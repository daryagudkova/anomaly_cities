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75" r:id="rId2"/>
    <p:sldId id="260" r:id="rId3"/>
    <p:sldId id="295" r:id="rId4"/>
    <p:sldId id="312" r:id="rId5"/>
    <p:sldId id="313" r:id="rId6"/>
    <p:sldId id="314" r:id="rId7"/>
    <p:sldId id="315" r:id="rId8"/>
    <p:sldId id="293" r:id="rId9"/>
    <p:sldId id="306" r:id="rId10"/>
    <p:sldId id="320" r:id="rId11"/>
    <p:sldId id="317" r:id="rId12"/>
    <p:sldId id="318" r:id="rId13"/>
    <p:sldId id="319" r:id="rId14"/>
    <p:sldId id="316" r:id="rId15"/>
    <p:sldId id="305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75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97" autoAdjust="0"/>
    <p:restoredTop sz="94660" autoAdjust="0"/>
  </p:normalViewPr>
  <p:slideViewPr>
    <p:cSldViewPr snapToGrid="0">
      <p:cViewPr varScale="1">
        <p:scale>
          <a:sx n="127" d="100"/>
          <a:sy n="127" d="100"/>
        </p:scale>
        <p:origin x="10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1A780-020C-4AEB-8C4B-D2B7689AA07C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27FCB-0F31-47F6-BA0D-495C46FDA8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072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452A2-87B4-47F0-AC37-ED6F4B94E49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B4E77-8490-42F6-B735-9997140001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2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469" y="3435698"/>
            <a:ext cx="6858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A64646A-7249-4656-9C89-4A3F1BC4923E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49636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179512" y="1048624"/>
            <a:ext cx="8964488" cy="13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43363492"/>
              </p:ext>
            </p:extLst>
          </p:nvPr>
        </p:nvGraphicFramePr>
        <p:xfrm>
          <a:off x="4034606" y="4565212"/>
          <a:ext cx="5040560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1929191" y="2972575"/>
            <a:ext cx="5248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Arial Black" panose="020B0A04020102020204" pitchFamily="34" charset="0"/>
              </a:rPr>
              <a:t>Учебно-исследовательская 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3945768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2019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6667500" y="4622006"/>
            <a:ext cx="2184400" cy="285274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Иванов И.И.</a:t>
            </a:r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667500" y="4976812"/>
            <a:ext cx="2184400" cy="299561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Б17-594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6662737" y="5442771"/>
            <a:ext cx="2184400" cy="58972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60000"/>
              </a:lnSpc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к.т.н., доцент </a:t>
            </a:r>
          </a:p>
          <a:p>
            <a:pPr lvl="0"/>
            <a:r>
              <a:rPr lang="ru-RU" dirty="0"/>
              <a:t>Петров П.П.</a:t>
            </a:r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270385" y="2023563"/>
            <a:ext cx="3835389" cy="285274"/>
          </a:xfrm>
        </p:spPr>
        <p:txBody>
          <a:bodyPr anchor="b">
            <a:normAutofit/>
          </a:bodyPr>
          <a:lstStyle>
            <a:lvl1pPr marL="0" indent="0">
              <a:buNone/>
              <a:defRPr sz="1100" b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09.03.04 ПРОГРАММНАЯ ИНЖЕНЕРИЯ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69115" y="66517"/>
            <a:ext cx="859871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 РОССИЙСКОЙ  ФЕДЕРАЦИИ</a:t>
            </a:r>
          </a:p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7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469" y="3435698"/>
            <a:ext cx="6858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A64646A-7249-4656-9C89-4A3F1BC4923E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49636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179512" y="1048624"/>
            <a:ext cx="8964488" cy="13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19484018"/>
              </p:ext>
            </p:extLst>
          </p:nvPr>
        </p:nvGraphicFramePr>
        <p:xfrm>
          <a:off x="4034606" y="4565212"/>
          <a:ext cx="5040560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2026258" y="2972575"/>
            <a:ext cx="5270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Arial Black" panose="020B0A04020102020204" pitchFamily="34" charset="0"/>
              </a:rPr>
              <a:t>Научно-исследовательская 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3945768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2019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6667500" y="4622006"/>
            <a:ext cx="2184400" cy="285274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Иванов И.И.</a:t>
            </a:r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667500" y="4976812"/>
            <a:ext cx="2184400" cy="299561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Б17-594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6662737" y="5442771"/>
            <a:ext cx="2184400" cy="58972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60000"/>
              </a:lnSpc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к.т.н., доцент </a:t>
            </a:r>
          </a:p>
          <a:p>
            <a:pPr lvl="0"/>
            <a:r>
              <a:rPr lang="ru-RU" dirty="0"/>
              <a:t>Петров П.П.</a:t>
            </a:r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270385" y="2023563"/>
            <a:ext cx="3835389" cy="285274"/>
          </a:xfrm>
        </p:spPr>
        <p:txBody>
          <a:bodyPr anchor="b">
            <a:normAutofit/>
          </a:bodyPr>
          <a:lstStyle>
            <a:lvl1pPr marL="0" indent="0">
              <a:buNone/>
              <a:defRPr sz="1100" b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09.03.04 ПРОГРАММНАЯ ИНЖЕНЕРИЯ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69115" y="66517"/>
            <a:ext cx="859871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 РОССИЙСКОЙ  ФЕДЕРАЦИИ</a:t>
            </a:r>
          </a:p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12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469" y="3435698"/>
            <a:ext cx="6858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A64646A-7249-4656-9C89-4A3F1BC4923E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49636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179512" y="1048624"/>
            <a:ext cx="8964488" cy="13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21963119"/>
              </p:ext>
            </p:extLst>
          </p:nvPr>
        </p:nvGraphicFramePr>
        <p:xfrm>
          <a:off x="4034606" y="4565212"/>
          <a:ext cx="5040560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1815769" y="2972575"/>
            <a:ext cx="5705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Arial Black" panose="020B0A04020102020204" pitchFamily="34" charset="0"/>
              </a:rPr>
              <a:t>Выпускная квалификационная 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3945768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2019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6667500" y="4622006"/>
            <a:ext cx="2184400" cy="285274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Иванов И.И.</a:t>
            </a:r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667500" y="4976812"/>
            <a:ext cx="2184400" cy="299561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Б17-594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6662737" y="5442771"/>
            <a:ext cx="2184400" cy="58972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60000"/>
              </a:lnSpc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к.т.н., доцент </a:t>
            </a:r>
          </a:p>
          <a:p>
            <a:pPr lvl="0"/>
            <a:r>
              <a:rPr lang="ru-RU" dirty="0"/>
              <a:t>Петров П.П.</a:t>
            </a:r>
          </a:p>
        </p:txBody>
      </p:sp>
      <p:sp>
        <p:nvSpPr>
          <p:cNvPr id="21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270385" y="2023563"/>
            <a:ext cx="3835389" cy="285274"/>
          </a:xfrm>
        </p:spPr>
        <p:txBody>
          <a:bodyPr anchor="b">
            <a:normAutofit/>
          </a:bodyPr>
          <a:lstStyle>
            <a:lvl1pPr marL="0" indent="0">
              <a:buNone/>
              <a:defRPr sz="1100" b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09.03.04 ПРОГРАММНАЯ ИНЖЕНЕРИЯ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69115" y="66517"/>
            <a:ext cx="859871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 РОССИЙСКОЙ  ФЕДЕРАЦИИ</a:t>
            </a:r>
          </a:p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5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25882"/>
            <a:ext cx="7886700" cy="52510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Ромб 8">
            <a:extLst>
              <a:ext uri="{FF2B5EF4-FFF2-40B4-BE49-F238E27FC236}">
                <a16:creationId xmlns:a16="http://schemas.microsoft.com/office/drawing/2014/main" id="{BE9DDADD-50C1-4FE1-B40A-6752FC1EE7F7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8" name="Номер слайда 25">
            <a:extLst>
              <a:ext uri="{FF2B5EF4-FFF2-40B4-BE49-F238E27FC236}">
                <a16:creationId xmlns:a16="http://schemas.microsoft.com/office/drawing/2014/main" id="{D8849AD0-4B2B-416B-B28D-8FFBBC86B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74966E4-0548-4C0B-AB29-8323106D8496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867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80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02922"/>
            <a:ext cx="3886200" cy="52740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02922"/>
            <a:ext cx="3886200" cy="52740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Ромб 7">
            <a:extLst>
              <a:ext uri="{FF2B5EF4-FFF2-40B4-BE49-F238E27FC236}">
                <a16:creationId xmlns:a16="http://schemas.microsoft.com/office/drawing/2014/main" id="{BAEF36E8-808B-4C41-A349-5DAE85BF6B11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9" name="Номер слайда 25">
            <a:extLst>
              <a:ext uri="{FF2B5EF4-FFF2-40B4-BE49-F238E27FC236}">
                <a16:creationId xmlns:a16="http://schemas.microsoft.com/office/drawing/2014/main" id="{45B6DAB1-A906-4CFB-8A5B-187F8818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54105DA-C2EB-4205-B06C-66D873215EA6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867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98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Ромб 7">
            <a:extLst>
              <a:ext uri="{FF2B5EF4-FFF2-40B4-BE49-F238E27FC236}">
                <a16:creationId xmlns:a16="http://schemas.microsoft.com/office/drawing/2014/main" id="{BAEF36E8-808B-4C41-A349-5DAE85BF6B11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9" name="Номер слайда 25">
            <a:extLst>
              <a:ext uri="{FF2B5EF4-FFF2-40B4-BE49-F238E27FC236}">
                <a16:creationId xmlns:a16="http://schemas.microsoft.com/office/drawing/2014/main" id="{45B6DAB1-A906-4CFB-8A5B-187F8818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199A7222-F73B-4B85-8114-99559142FB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" y="903600"/>
            <a:ext cx="3886200" cy="5092330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5">
            <a:extLst>
              <a:ext uri="{FF2B5EF4-FFF2-40B4-BE49-F238E27FC236}">
                <a16:creationId xmlns:a16="http://schemas.microsoft.com/office/drawing/2014/main" id="{4469B468-9231-4A96-ABBB-527F4CF013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29150" y="903600"/>
            <a:ext cx="3886200" cy="5092330"/>
          </a:xfrm>
        </p:spPr>
        <p:txBody>
          <a:bodyPr/>
          <a:lstStyle/>
          <a:p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72CC4C8-BB63-46DD-B7CD-9B255830463D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867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00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000"/>
            <a:ext cx="7886700" cy="687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03600"/>
            <a:ext cx="3868340" cy="550258"/>
          </a:xfr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61664"/>
            <a:ext cx="3868340" cy="4628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903600"/>
            <a:ext cx="3887391" cy="550258"/>
          </a:xfr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561664"/>
            <a:ext cx="3887391" cy="4628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Ромб 9">
            <a:extLst>
              <a:ext uri="{FF2B5EF4-FFF2-40B4-BE49-F238E27FC236}">
                <a16:creationId xmlns:a16="http://schemas.microsoft.com/office/drawing/2014/main" id="{5BCECF39-A88B-4C42-99F7-2ED7AD335866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11" name="Номер слайда 25">
            <a:extLst>
              <a:ext uri="{FF2B5EF4-FFF2-40B4-BE49-F238E27FC236}">
                <a16:creationId xmlns:a16="http://schemas.microsoft.com/office/drawing/2014/main" id="{82209009-8931-4F39-AFC3-332DC2C31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550351E-7D6F-4C22-B086-34698292BA26}"/>
              </a:ext>
            </a:extLst>
          </p:cNvPr>
          <p:cNvCxnSpPr>
            <a:cxnSpLocks/>
          </p:cNvCxnSpPr>
          <p:nvPr userDrawn="1"/>
        </p:nvCxnSpPr>
        <p:spPr>
          <a:xfrm>
            <a:off x="628652" y="761362"/>
            <a:ext cx="7887891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45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Ромб 5">
            <a:extLst>
              <a:ext uri="{FF2B5EF4-FFF2-40B4-BE49-F238E27FC236}">
                <a16:creationId xmlns:a16="http://schemas.microsoft.com/office/drawing/2014/main" id="{6E3C7148-48C5-412D-A636-2B912D6D76DD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7" name="Номер слайда 25">
            <a:extLst>
              <a:ext uri="{FF2B5EF4-FFF2-40B4-BE49-F238E27FC236}">
                <a16:creationId xmlns:a16="http://schemas.microsoft.com/office/drawing/2014/main" id="{58957B7E-92D6-40EF-980D-1EA85EDEA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3E6A997-A5BE-466D-AA27-19A14543B654}"/>
              </a:ext>
            </a:extLst>
          </p:cNvPr>
          <p:cNvCxnSpPr>
            <a:cxnSpLocks/>
          </p:cNvCxnSpPr>
          <p:nvPr userDrawn="1"/>
        </p:nvCxnSpPr>
        <p:spPr>
          <a:xfrm>
            <a:off x="628650" y="761362"/>
            <a:ext cx="78867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26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омб 4">
            <a:extLst>
              <a:ext uri="{FF2B5EF4-FFF2-40B4-BE49-F238E27FC236}">
                <a16:creationId xmlns:a16="http://schemas.microsoft.com/office/drawing/2014/main" id="{10E087FF-C48F-43A3-B51E-CB79F6A1DBFD}"/>
              </a:ext>
            </a:extLst>
          </p:cNvPr>
          <p:cNvSpPr/>
          <p:nvPr userDrawn="1"/>
        </p:nvSpPr>
        <p:spPr>
          <a:xfrm>
            <a:off x="4342446" y="6599750"/>
            <a:ext cx="524152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6" name="Номер слайда 25">
            <a:extLst>
              <a:ext uri="{FF2B5EF4-FFF2-40B4-BE49-F238E27FC236}">
                <a16:creationId xmlns:a16="http://schemas.microsoft.com/office/drawing/2014/main" id="{7D87A676-E0D2-4A74-AC09-ACAD12102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84532" y="6591826"/>
            <a:ext cx="4275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37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15AD966-4302-48E2-9828-B1F03FA0B06C}"/>
              </a:ext>
            </a:extLst>
          </p:cNvPr>
          <p:cNvSpPr/>
          <p:nvPr userDrawn="1"/>
        </p:nvSpPr>
        <p:spPr bwMode="auto">
          <a:xfrm rot="5400000">
            <a:off x="-3272458" y="3265886"/>
            <a:ext cx="6901104" cy="369332"/>
          </a:xfrm>
          <a:prstGeom prst="rect">
            <a:avLst/>
          </a:prstGeom>
          <a:solidFill>
            <a:srgbClr val="537599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043553-3B14-472E-B596-C069E0028D39}"/>
              </a:ext>
            </a:extLst>
          </p:cNvPr>
          <p:cNvSpPr txBox="1"/>
          <p:nvPr userDrawn="1"/>
        </p:nvSpPr>
        <p:spPr>
          <a:xfrm>
            <a:off x="946" y="8307"/>
            <a:ext cx="357238" cy="6740307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01010100010010010010101010101010000001010101011111101010101010111111111110010010010101000101001010101001010010101001010010000001000011</a:t>
            </a:r>
            <a:r>
              <a:rPr lang="en-US" sz="800" dirty="0">
                <a:solidFill>
                  <a:schemeClr val="tx1">
                    <a:alpha val="10000"/>
                  </a:schemeClr>
                </a:solidFill>
              </a:rPr>
              <a:t>100100100100001010000101111111111110101010100100101111110010001000101011111000000100101101010101010101000011110</a:t>
            </a:r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00110000100101010010111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5AD966-4302-48E2-9828-B1F03FA0B06C}"/>
              </a:ext>
            </a:extLst>
          </p:cNvPr>
          <p:cNvSpPr/>
          <p:nvPr userDrawn="1"/>
        </p:nvSpPr>
        <p:spPr bwMode="auto">
          <a:xfrm>
            <a:off x="0" y="6556718"/>
            <a:ext cx="9144000" cy="369332"/>
          </a:xfrm>
          <a:prstGeom prst="rect">
            <a:avLst/>
          </a:prstGeom>
          <a:solidFill>
            <a:srgbClr val="537599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41EA13-1187-4A3C-BF37-92B8738E17CC}"/>
              </a:ext>
            </a:extLst>
          </p:cNvPr>
          <p:cNvSpPr txBox="1"/>
          <p:nvPr userDrawn="1"/>
        </p:nvSpPr>
        <p:spPr>
          <a:xfrm>
            <a:off x="-6572" y="6562550"/>
            <a:ext cx="9146746" cy="338554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00110000100101010010111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094"/>
            <a:ext cx="7886700" cy="687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C48BF25-72CE-40D3-AEF7-19ED32CA997A}"/>
              </a:ext>
            </a:extLst>
          </p:cNvPr>
          <p:cNvSpPr/>
          <p:nvPr userDrawn="1"/>
        </p:nvSpPr>
        <p:spPr bwMode="auto">
          <a:xfrm>
            <a:off x="8171381" y="5948484"/>
            <a:ext cx="972000" cy="9720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E671DEE-97FB-4F25-B803-F0D41F5830C0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09447" y="6038484"/>
            <a:ext cx="907780" cy="792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452694-CC9C-43F6-AEB8-56C95B5E244C}"/>
              </a:ext>
            </a:extLst>
          </p:cNvPr>
          <p:cNvSpPr txBox="1"/>
          <p:nvPr userDrawn="1"/>
        </p:nvSpPr>
        <p:spPr>
          <a:xfrm>
            <a:off x="7344112" y="6501575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www.kaf22.ru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BA0A7D-843A-42F6-A93A-7F372F48E8E3}"/>
              </a:ext>
            </a:extLst>
          </p:cNvPr>
          <p:cNvSpPr txBox="1"/>
          <p:nvPr userDrawn="1"/>
        </p:nvSpPr>
        <p:spPr>
          <a:xfrm>
            <a:off x="6483895" y="6364839"/>
            <a:ext cx="18145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537599"/>
                </a:solidFill>
              </a:rPr>
              <a:t>Кафедра №22 «Кибернетика»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84556"/>
            <a:ext cx="7886700" cy="5092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42C05CDA-94F1-4017-849E-91F43794E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7381" y="112172"/>
            <a:ext cx="4275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537599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C48568F-3887-4E0C-9A67-562A7C93CD80}"/>
              </a:ext>
            </a:extLst>
          </p:cNvPr>
          <p:cNvSpPr/>
          <p:nvPr userDrawn="1"/>
        </p:nvSpPr>
        <p:spPr bwMode="auto">
          <a:xfrm>
            <a:off x="142" y="5944226"/>
            <a:ext cx="972000" cy="9720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1D996F7-15DE-4568-A6EE-4FC63ECE848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1237" y="6034226"/>
            <a:ext cx="767684" cy="792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5E14EE-4BBF-41D9-953D-90E980C4FC24}"/>
              </a:ext>
            </a:extLst>
          </p:cNvPr>
          <p:cNvSpPr txBox="1"/>
          <p:nvPr userDrawn="1"/>
        </p:nvSpPr>
        <p:spPr>
          <a:xfrm>
            <a:off x="886699" y="6498400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n>
                  <a:noFill/>
                </a:ln>
                <a:solidFill>
                  <a:schemeClr val="bg1"/>
                </a:solidFill>
              </a:rPr>
              <a:t>www.mephi.ru</a:t>
            </a:r>
            <a:endParaRPr lang="ru-RU" sz="10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4C9A7-6C12-4AD6-ABA3-D08646DA6E43}"/>
              </a:ext>
            </a:extLst>
          </p:cNvPr>
          <p:cNvSpPr txBox="1"/>
          <p:nvPr userDrawn="1"/>
        </p:nvSpPr>
        <p:spPr>
          <a:xfrm>
            <a:off x="874516" y="6383251"/>
            <a:ext cx="8755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rgbClr val="537599"/>
                </a:solidFill>
              </a:rPr>
              <a:t>НИЯУ МИФИ</a:t>
            </a:r>
          </a:p>
        </p:txBody>
      </p:sp>
    </p:spTree>
    <p:extLst>
      <p:ext uri="{BB962C8B-B14F-4D97-AF65-F5344CB8AC3E}">
        <p14:creationId xmlns:p14="http://schemas.microsoft.com/office/powerpoint/2010/main" val="408524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62" r:id="rId4"/>
    <p:sldLayoutId id="2147483664" r:id="rId5"/>
    <p:sldLayoutId id="2147483668" r:id="rId6"/>
    <p:sldLayoutId id="2147483665" r:id="rId7"/>
    <p:sldLayoutId id="2147483666" r:id="rId8"/>
    <p:sldLayoutId id="214748366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46600" t="43422" r="23600" b="52311"/>
          <a:stretch/>
        </p:blipFill>
        <p:spPr>
          <a:xfrm>
            <a:off x="1837326" y="2940556"/>
            <a:ext cx="5741110" cy="41194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Кластеризация и поиск аномалий в показателях качества жизни городов мира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Гудкова Д.А.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>
          <a:xfrm>
            <a:off x="6662737" y="4976812"/>
            <a:ext cx="2184400" cy="299561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М24-514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к.т.н., доцент</a:t>
            </a:r>
          </a:p>
          <a:p>
            <a:r>
              <a:rPr lang="ru-RU" dirty="0">
                <a:solidFill>
                  <a:schemeClr val="tx1"/>
                </a:solidFill>
              </a:rPr>
              <a:t>Трофимов А.Г.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09.0</a:t>
            </a:r>
            <a:r>
              <a:rPr lang="ru-RU" dirty="0">
                <a:solidFill>
                  <a:schemeClr val="tx1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.04 </a:t>
            </a:r>
            <a:r>
              <a:rPr lang="ru-RU" dirty="0">
                <a:solidFill>
                  <a:schemeClr val="tx1"/>
                </a:solidFill>
              </a:rPr>
              <a:t>Программная инженерия</a:t>
            </a:r>
          </a:p>
        </p:txBody>
      </p:sp>
      <p:sp>
        <p:nvSpPr>
          <p:cNvPr id="9" name="Текст 2"/>
          <p:cNvSpPr txBox="1">
            <a:spLocks/>
          </p:cNvSpPr>
          <p:nvPr/>
        </p:nvSpPr>
        <p:spPr>
          <a:xfrm>
            <a:off x="1909572" y="3057830"/>
            <a:ext cx="6484620" cy="249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92D05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solidFill>
                  <a:schemeClr val="tx1"/>
                </a:solidFill>
                <a:latin typeface="Arial Black" panose="020B0A04020102020204" pitchFamily="34" charset="0"/>
              </a:rPr>
              <a:t>Курсовой проект на тему: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8752BD-FA49-7F49-8571-55836A6B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271" y="6092463"/>
            <a:ext cx="1415085" cy="458121"/>
          </a:xfrm>
          <a:prstGeom prst="rect">
            <a:avLst/>
          </a:prstGeom>
        </p:spPr>
      </p:pic>
      <p:sp>
        <p:nvSpPr>
          <p:cNvPr id="12" name="Текст 2">
            <a:extLst>
              <a:ext uri="{FF2B5EF4-FFF2-40B4-BE49-F238E27FC236}">
                <a16:creationId xmlns:a16="http://schemas.microsoft.com/office/drawing/2014/main" id="{D4A716FB-EFC1-534A-AA1C-DFADB63B096C}"/>
              </a:ext>
            </a:extLst>
          </p:cNvPr>
          <p:cNvSpPr txBox="1">
            <a:spLocks/>
          </p:cNvSpPr>
          <p:nvPr/>
        </p:nvSpPr>
        <p:spPr>
          <a:xfrm>
            <a:off x="3944271" y="6275997"/>
            <a:ext cx="1415085" cy="2852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92D05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Москва, 2025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C583EC3-E288-F240-BB94-CD76DD479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926" y="5276373"/>
            <a:ext cx="4136544" cy="75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66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FB7A8-1E1A-4244-806F-8D6E13DF6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EAFB75-0049-4183-BEAC-831022051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ru-RU" sz="2400" b="1" dirty="0"/>
              <a:t>Цель</a:t>
            </a:r>
            <a:r>
              <a:rPr lang="ru-RU" sz="2400" dirty="0"/>
              <a:t>: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1800" kern="0" dirty="0">
                <a:effectLst/>
                <a:ea typeface="Times New Roman" panose="02020603050405020304" pitchFamily="18" charset="0"/>
              </a:rPr>
              <a:t>разработка устойчивой типологии городов мира на основе социально-экономических показателей и выявление аномальных объектов, чьи характеристики существенно отклоняются от выявленных статистических закономерностей</a:t>
            </a:r>
            <a:r>
              <a:rPr lang="ru-RU" sz="2000" dirty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2400" b="1" dirty="0"/>
              <a:t>Задачи:</a:t>
            </a:r>
          </a:p>
          <a:p>
            <a:pPr algn="just">
              <a:lnSpc>
                <a:spcPct val="120000"/>
              </a:lnSpc>
            </a:pPr>
            <a:r>
              <a:rPr lang="ru-RU" sz="1800" kern="0" dirty="0"/>
              <a:t>Осуществить автоматизированный сбор данных из верифицированных источников и провести их предварительную обработку.</a:t>
            </a:r>
          </a:p>
          <a:p>
            <a:pPr algn="just">
              <a:lnSpc>
                <a:spcPct val="120000"/>
              </a:lnSpc>
            </a:pPr>
            <a:r>
              <a:rPr lang="ru-RU" sz="1800" kern="0" dirty="0"/>
              <a:t>Выполнить снижение размерности признакового пространства для выделения наиболее значимых факторов качества жизни.</a:t>
            </a:r>
          </a:p>
          <a:p>
            <a:pPr algn="just">
              <a:lnSpc>
                <a:spcPct val="120000"/>
              </a:lnSpc>
            </a:pPr>
            <a:r>
              <a:rPr lang="ru-RU" sz="1800" kern="0" dirty="0"/>
              <a:t>Провести сегментацию объектов с использованием ансамблевых методов кластеризации и интерпретировать полученные профили.</a:t>
            </a:r>
          </a:p>
          <a:p>
            <a:pPr algn="just">
              <a:lnSpc>
                <a:spcPct val="120000"/>
              </a:lnSpc>
            </a:pPr>
            <a:r>
              <a:rPr lang="ru-RU" sz="1800" kern="0" dirty="0"/>
              <a:t>Реализовать алгоритмы </a:t>
            </a:r>
            <a:r>
              <a:rPr lang="ru-RU" sz="1800" kern="0" dirty="0" err="1"/>
              <a:t>детекции</a:t>
            </a:r>
            <a:r>
              <a:rPr lang="ru-RU" sz="1800" kern="0" dirty="0"/>
              <a:t> аномалий для анализа уникальных социально-экономических кейсов.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9E31F2-6CA6-4B6F-B7C2-671F4B631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3ADA455-26B1-4730-88D4-E6FF849843EE}"/>
              </a:ext>
            </a:extLst>
          </p:cNvPr>
          <p:cNvSpPr txBox="1">
            <a:spLocks/>
          </p:cNvSpPr>
          <p:nvPr/>
        </p:nvSpPr>
        <p:spPr>
          <a:xfrm>
            <a:off x="3993124" y="5686444"/>
            <a:ext cx="1210316" cy="51730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49263" rtl="0" eaLnBrk="0" fontAlgn="base" latinLnBrk="0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20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Описание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9F6EEB-CEF6-B441-AE0C-D01DF32E9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25882"/>
            <a:ext cx="7886700" cy="536518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10000"/>
              </a:lnSpc>
              <a:buNone/>
            </a:pPr>
            <a:r>
              <a:rPr lang="ru-RU" sz="1800" kern="0" dirty="0" err="1"/>
              <a:t>Парсинг</a:t>
            </a:r>
            <a:r>
              <a:rPr lang="ru-RU" sz="1800" kern="0" dirty="0"/>
              <a:t> </a:t>
            </a:r>
            <a:r>
              <a:rPr lang="ru-RU" sz="1800" kern="0" dirty="0" err="1">
                <a:effectLst/>
                <a:ea typeface="Times New Roman" panose="02020603050405020304" pitchFamily="18" charset="0"/>
              </a:rPr>
              <a:t>Numbeo</a:t>
            </a:r>
            <a:r>
              <a:rPr lang="ru-RU" sz="1800" kern="0" dirty="0">
                <a:ea typeface="Times New Roman" panose="02020603050405020304" pitchFamily="18" charset="0"/>
              </a:rPr>
              <a:t>, </a:t>
            </a:r>
            <a:r>
              <a:rPr lang="ru-RU" sz="1800" kern="0" dirty="0">
                <a:effectLst/>
                <a:ea typeface="Times New Roman" panose="02020603050405020304" pitchFamily="18" charset="0"/>
              </a:rPr>
              <a:t>глобальной базы данных о качестве жизни с использованием библиотек </a:t>
            </a:r>
            <a:r>
              <a:rPr lang="ru-RU" sz="1800" kern="0" dirty="0" err="1">
                <a:effectLst/>
                <a:ea typeface="Times New Roman" panose="02020603050405020304" pitchFamily="18" charset="0"/>
              </a:rPr>
              <a:t>requests</a:t>
            </a:r>
            <a:r>
              <a:rPr lang="ru-RU" sz="1800" kern="0" dirty="0">
                <a:effectLst/>
                <a:ea typeface="Times New Roman" panose="02020603050405020304" pitchFamily="18" charset="0"/>
              </a:rPr>
              <a:t> и </a:t>
            </a:r>
            <a:r>
              <a:rPr lang="ru-RU" sz="1800" kern="0" dirty="0" err="1">
                <a:effectLst/>
                <a:ea typeface="Times New Roman" panose="02020603050405020304" pitchFamily="18" charset="0"/>
              </a:rPr>
              <a:t>BeautifulSoup</a:t>
            </a:r>
            <a:r>
              <a:rPr lang="ru-RU" sz="1800" kern="0" dirty="0">
                <a:ea typeface="Times New Roman" panose="02020603050405020304" pitchFamily="18" charset="0"/>
              </a:rPr>
              <a:t>. </a:t>
            </a:r>
          </a:p>
          <a:p>
            <a:pPr marL="0" lvl="0" indent="0" algn="just">
              <a:lnSpc>
                <a:spcPct val="110000"/>
              </a:lnSpc>
              <a:buNone/>
            </a:pPr>
            <a:r>
              <a:rPr lang="ru-RU" sz="1800" kern="0" dirty="0">
                <a:effectLst/>
                <a:ea typeface="Times New Roman" panose="02020603050405020304" pitchFamily="18" charset="0"/>
              </a:rPr>
              <a:t>Извлечено 9 признаков, 279 строк данных. </a:t>
            </a:r>
          </a:p>
          <a:p>
            <a:pPr marL="0" lvl="0" indent="0" algn="just">
              <a:lnSpc>
                <a:spcPct val="110000"/>
              </a:lnSpc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2C885E-A046-BB46-932E-D3D2A5397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77" y="2119375"/>
            <a:ext cx="7656373" cy="402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9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Признаки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9F6EEB-CEF6-B441-AE0C-D01DF32E9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25882"/>
            <a:ext cx="7886700" cy="5365189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Quality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of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Life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Интегральный показатель общего благополучия.</a:t>
            </a:r>
          </a:p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Purchasing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Power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Покупательная способность населения (отношение средней зарплаты к ценам).</a:t>
            </a:r>
          </a:p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Safety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Уровень личной безопасности.</a:t>
            </a:r>
          </a:p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Health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Care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Качество и доступность медицинской системы.</a:t>
            </a:r>
          </a:p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Cost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of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Living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Стоимость потребительской корзины (без учета аренды).</a:t>
            </a:r>
          </a:p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Property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Price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to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Income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Ratio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Индекс недоступности жилья (сколько годовых доходов нужно для покупки квартиры).</a:t>
            </a:r>
          </a:p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Traffic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Commute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Time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Временные затраты на транспорт и уровень пробок.</a:t>
            </a:r>
          </a:p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Pollution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Уровень загрязнения (воздух, вода).</a:t>
            </a:r>
          </a:p>
          <a:p>
            <a:pPr marL="342900" lvl="0" indent="-342900" algn="just">
              <a:lnSpc>
                <a:spcPct val="110000"/>
              </a:lnSpc>
              <a:buFont typeface="Symbol" pitchFamily="2" charset="2"/>
              <a:buChar char=""/>
            </a:pPr>
            <a:r>
              <a:rPr lang="ru-RU" sz="1800" dirty="0" err="1">
                <a:effectLst/>
                <a:ea typeface="Times New Roman" panose="02020603050405020304" pitchFamily="18" charset="0"/>
              </a:rPr>
              <a:t>Climate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 Климатический комфорт.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89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kern="0" dirty="0">
                <a:effectLst/>
                <a:ea typeface="Times New Roman" panose="02020603050405020304" pitchFamily="18" charset="0"/>
              </a:rPr>
              <a:t>Матрица диаграмм рассеяния исходных признаков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5F8C48F-0237-8643-9AF3-4FFD80BAD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4161" y="849924"/>
            <a:ext cx="5428242" cy="561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1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kern="0" dirty="0"/>
              <a:t>Заполнение пропусков и масштабирование</a:t>
            </a:r>
            <a:endParaRPr lang="ru-RU" sz="4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D2A95CE-E0B1-9140-826C-83F1DEEBD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Импутация</a:t>
            </a:r>
            <a:r>
              <a:rPr lang="ru-RU" sz="2400" dirty="0"/>
              <a:t> медианой</a:t>
            </a:r>
          </a:p>
          <a:p>
            <a:r>
              <a:rPr lang="ru-RU" sz="2400" dirty="0" err="1"/>
              <a:t>RobustScaler</a:t>
            </a:r>
            <a:endParaRPr lang="ru-RU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7A3F4B-766E-F24B-A8BD-5470AE8E9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42874"/>
            <a:ext cx="7886700" cy="388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5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kern="0" dirty="0">
                <a:effectLst/>
                <a:ea typeface="Times New Roman" panose="02020603050405020304" pitchFamily="18" charset="0"/>
              </a:rPr>
              <a:t>Матрица корреляций (</a:t>
            </a:r>
            <a:r>
              <a:rPr lang="ru-RU" sz="2800" kern="0" dirty="0" err="1">
                <a:effectLst/>
                <a:ea typeface="Times New Roman" panose="02020603050405020304" pitchFamily="18" charset="0"/>
              </a:rPr>
              <a:t>Спирмена</a:t>
            </a:r>
            <a:r>
              <a:rPr lang="ru-RU" sz="2800" kern="0" dirty="0">
                <a:effectLst/>
                <a:ea typeface="Times New Roman" panose="02020603050405020304" pitchFamily="18" charset="0"/>
              </a:rPr>
              <a:t>)</a:t>
            </a:r>
            <a:r>
              <a:rPr lang="ru-RU" sz="3200" dirty="0">
                <a:effectLst/>
              </a:rPr>
              <a:t> </a:t>
            </a:r>
            <a:endParaRPr lang="ru-RU" sz="6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1BCEB83-58D0-A245-95F5-6EAF30CA7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787" y="900820"/>
            <a:ext cx="6180425" cy="551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4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925882"/>
                <a:ext cx="7886700" cy="505429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2000" dirty="0"/>
                  <a:t>Формально задача сводится к обучению без учителя (</a:t>
                </a:r>
                <a:r>
                  <a:rPr lang="ru-RU" sz="2000" dirty="0" err="1"/>
                  <a:t>Unsupervised</a:t>
                </a:r>
                <a:r>
                  <a:rPr lang="ru-RU" sz="2000" dirty="0"/>
                  <a:t> </a:t>
                </a:r>
                <a:r>
                  <a:rPr lang="ru-RU" sz="2000" dirty="0" err="1"/>
                  <a:t>Learning</a:t>
                </a:r>
                <a:r>
                  <a:rPr lang="ru-RU" sz="2000" dirty="0"/>
                  <a:t>) на множестве объектов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20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ru-RU" sz="2000" dirty="0"/>
                  <a:t>, где </a:t>
                </a:r>
                <a:r>
                  <a:rPr lang="ru-RU" sz="2000" i="1" dirty="0" err="1"/>
                  <a:t>n</a:t>
                </a:r>
                <a:r>
                  <a:rPr lang="ru-RU" sz="2000" dirty="0"/>
                  <a:t> — количество городов, </a:t>
                </a:r>
                <a:r>
                  <a:rPr lang="ru-RU" sz="2000" i="1" dirty="0" err="1"/>
                  <a:t>m</a:t>
                </a:r>
                <a:r>
                  <a:rPr lang="ru-RU" sz="2000" i="1" dirty="0"/>
                  <a:t>=9</a:t>
                </a:r>
                <a:r>
                  <a:rPr lang="ru-RU" sz="2000" dirty="0"/>
                  <a:t> — количество признаков.</a:t>
                </a:r>
              </a:p>
              <a:p>
                <a:pPr marL="0" indent="0" algn="just">
                  <a:buNone/>
                </a:pPr>
                <a:r>
                  <a:rPr lang="ru-RU" sz="2000" dirty="0"/>
                  <a:t>Необходимо найти:</a:t>
                </a:r>
              </a:p>
              <a:p>
                <a:pPr lvl="0" algn="just"/>
                <a:r>
                  <a:rPr lang="ru-RU" sz="2000" dirty="0"/>
                  <a:t>отображение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ru-RU" sz="200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ru-RU" sz="2000" dirty="0"/>
                  <a:t>, где </a:t>
                </a:r>
                <a:r>
                  <a:rPr lang="ru-RU" sz="2000" i="1" dirty="0" err="1"/>
                  <a:t>d</a:t>
                </a:r>
                <a:r>
                  <a:rPr lang="ru-RU" sz="2000" i="1" dirty="0"/>
                  <a:t> &lt; </a:t>
                </a:r>
                <a:r>
                  <a:rPr lang="ru-RU" sz="2000" i="1" dirty="0" err="1"/>
                  <a:t>m</a:t>
                </a:r>
                <a:r>
                  <a:rPr lang="ru-RU" sz="2000" dirty="0"/>
                  <a:t>, сохраняющее максимальную долю дисперсии (факторный анализ);</a:t>
                </a:r>
              </a:p>
              <a:p>
                <a:pPr lvl="0" algn="just"/>
                <a:r>
                  <a:rPr lang="ru-RU" sz="2000" dirty="0"/>
                  <a:t>разбиение множества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2000" dirty="0"/>
                  <a:t> на </a:t>
                </a:r>
                <a:r>
                  <a:rPr lang="ru-RU" sz="2000" i="1" dirty="0" err="1"/>
                  <a:t>k</a:t>
                </a:r>
                <a:r>
                  <a:rPr lang="ru-RU" sz="2000" dirty="0"/>
                  <a:t> непересекающихся подмножеств (кластеров)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ru-RU" sz="20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lang="ru-RU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sz="2000" dirty="0"/>
                  <a:t>, </a:t>
                </a:r>
                <a:r>
                  <a:rPr lang="ru-RU" sz="2000" dirty="0" err="1"/>
                  <a:t>максимизирующее</a:t>
                </a:r>
                <a:r>
                  <a:rPr lang="ru-RU" sz="2000" dirty="0"/>
                  <a:t> </a:t>
                </a:r>
                <a:r>
                  <a:rPr lang="ru-RU" sz="2000" dirty="0" err="1"/>
                  <a:t>внутрикластерную</a:t>
                </a:r>
                <a:r>
                  <a:rPr lang="ru-RU" sz="2000" dirty="0"/>
                  <a:t> плотность и </a:t>
                </a:r>
                <a:r>
                  <a:rPr lang="ru-RU" sz="2000" dirty="0" err="1"/>
                  <a:t>межкластерное</a:t>
                </a:r>
                <a:r>
                  <a:rPr lang="ru-RU" sz="2000" dirty="0"/>
                  <a:t> расстояние;</a:t>
                </a:r>
              </a:p>
              <a:p>
                <a:pPr lvl="0" algn="just"/>
                <a:r>
                  <a:rPr lang="ru-RU" sz="2000" dirty="0"/>
                  <a:t>подмножество объектов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>
                        <a:latin typeface="Cambria Math" panose="02040503050406030204" pitchFamily="18" charset="0"/>
                      </a:rPr>
                      <m:t>⊂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2000" dirty="0"/>
                  <a:t>, являющихся статистическими выбросами (аномалиями).</a:t>
                </a:r>
              </a:p>
              <a:p>
                <a:pPr marL="0" indent="0">
                  <a:buNone/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25882"/>
                <a:ext cx="7886700" cy="5054294"/>
              </a:xfrm>
              <a:blipFill>
                <a:blip r:embed="rId2"/>
                <a:stretch>
                  <a:fillRect l="-804" t="-1253" r="-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325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F84AB-A21A-4340-8047-C312267D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kern="0" dirty="0">
                <a:ea typeface="Times New Roman" panose="02020603050405020304" pitchFamily="18" charset="0"/>
              </a:rPr>
              <a:t>М</a:t>
            </a:r>
            <a:r>
              <a:rPr lang="ru-RU" sz="2800" kern="0" dirty="0">
                <a:effectLst/>
                <a:ea typeface="Times New Roman" panose="02020603050405020304" pitchFamily="18" charset="0"/>
              </a:rPr>
              <a:t>етод локтя для выбора числа главных компонент</a:t>
            </a:r>
            <a:r>
              <a:rPr lang="ru-RU" sz="3600" dirty="0">
                <a:effectLst/>
              </a:rPr>
              <a:t> </a:t>
            </a:r>
            <a:endParaRPr lang="ru-RU" sz="3600" b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20D306-FACC-8D44-85C9-02ED005BF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D736163-2FCB-334E-A125-9B639E624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04" y="986414"/>
            <a:ext cx="110857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2BF50A4-4A4A-9948-9A8B-E8A705833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314142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AFB279-DC65-6240-A044-73518163D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00" y="1341159"/>
            <a:ext cx="7121200" cy="4993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2C84CA-8489-1640-AD66-E3FB4598086B}"/>
              </a:ext>
            </a:extLst>
          </p:cNvPr>
          <p:cNvSpPr txBox="1"/>
          <p:nvPr/>
        </p:nvSpPr>
        <p:spPr>
          <a:xfrm>
            <a:off x="797504" y="847467"/>
            <a:ext cx="651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kern="0" dirty="0">
                <a:effectLst/>
                <a:ea typeface="Times New Roman" panose="02020603050405020304" pitchFamily="18" charset="0"/>
              </a:rPr>
              <a:t>91% объясненной дисперсии  для 5 компонент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068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F84AB-A21A-4340-8047-C312267D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indent="450215" algn="ctr">
              <a:lnSpc>
                <a:spcPct val="150000"/>
              </a:lnSpc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Корреляция исходных признаков с главными компонентами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20D306-FACC-8D44-85C9-02ED005BF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D736163-2FCB-334E-A125-9B639E624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04" y="986414"/>
            <a:ext cx="110857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2BF50A4-4A4A-9948-9A8B-E8A705833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314142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6A0D17-56F8-C443-86CF-1998488AE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49" y="1295440"/>
            <a:ext cx="8172466" cy="447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2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C7000-CDEA-D64F-9A11-CAB22502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Интерпретация главных компонент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AB11B2-BED4-7E44-B9D1-056A066A5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PC1: </a:t>
            </a:r>
            <a:r>
              <a:rPr lang="ru-RU" sz="2000" b="1" dirty="0">
                <a:effectLst/>
                <a:ea typeface="Times New Roman" panose="02020603050405020304" pitchFamily="18" charset="0"/>
              </a:rPr>
              <a:t>Богатство и комфорт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Признаки: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Quality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of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Life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(0.47),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Purchasing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Power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(0.41),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Pollution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(-0.41).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Смысл: чем выше значение, тем богаче, чище и комфортнее город.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Примеры: города Западной Европы, Австралии.</a:t>
            </a:r>
          </a:p>
          <a:p>
            <a:pPr lvl="0" indent="0" algn="just">
              <a:lnSpc>
                <a:spcPct val="150000"/>
              </a:lnSpc>
              <a:buNone/>
            </a:pPr>
            <a:r>
              <a:rPr lang="en-US" sz="2000" b="1" dirty="0"/>
              <a:t>PC2: </a:t>
            </a:r>
            <a:r>
              <a:rPr lang="en-US" sz="2000" b="1" dirty="0" err="1"/>
              <a:t>Безопасность</a:t>
            </a:r>
            <a:endParaRPr lang="ru-RU" sz="2000" b="1" dirty="0"/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/>
              <a:t>Признаки: </a:t>
            </a:r>
            <a:r>
              <a:rPr lang="ru-RU" sz="2000" dirty="0" err="1"/>
              <a:t>Safety</a:t>
            </a:r>
            <a:r>
              <a:rPr lang="ru-RU" sz="2000" dirty="0"/>
              <a:t> </a:t>
            </a:r>
            <a:r>
              <a:rPr lang="ru-RU" sz="2000" dirty="0" err="1"/>
              <a:t>Index</a:t>
            </a:r>
            <a:r>
              <a:rPr lang="ru-RU" sz="2000" dirty="0"/>
              <a:t> 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(0.71).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Смысл: чем выше значение, тем безопаснее город.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Примеры: Высокий PC2 – Мюнхен, низкий – города Латинской Америки.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0C2630-BE5C-1145-BEC6-80E938A88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5321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C7000-CDEA-D64F-9A11-CAB22502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Интерпретация главных компонент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AB11B2-BED4-7E44-B9D1-056A066A5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US" sz="2000" b="1" dirty="0"/>
              <a:t>PC3: </a:t>
            </a:r>
            <a:r>
              <a:rPr lang="ru-RU" sz="2000" b="1" dirty="0"/>
              <a:t>Курорт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Признаки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: Climate Index (0.72), Property Price to Income Ratio (0.50).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Смысл: города с идеальной погодой, где из-за привлекательности климата недвижимость становится недоступной для местных.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Примеры: Лиссабон, Лос-Анджелес, Барселона.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PC4: </a:t>
            </a:r>
            <a:r>
              <a:rPr lang="ru-RU" sz="2000" b="1" dirty="0">
                <a:effectLst/>
                <a:ea typeface="Times New Roman" panose="02020603050405020304" pitchFamily="18" charset="0"/>
              </a:rPr>
              <a:t>Пробки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Признаки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: Traffic Commute Time Index (0.71).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Смысл: мегаполисы, которые стоят в пробках.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0C2630-BE5C-1145-BEC6-80E938A88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3921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C7000-CDEA-D64F-9A11-CAB22502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Интерпретация главных компонент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AB11B2-BED4-7E44-B9D1-056A066A5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US" sz="2000" b="1" dirty="0"/>
              <a:t>PC3: </a:t>
            </a:r>
            <a:r>
              <a:rPr lang="ru-RU" sz="2000" b="1" dirty="0"/>
              <a:t>Курорт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Признаки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: Climate Index (0.72), Property Price to Income Ratio (0.50).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Смысл: города с идеальной погодой, где из-за привлекательности климата недвижимость становится недоступной для местных.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Примеры: Лиссабон, Лос-Анджелес, Барселона.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PC4: </a:t>
            </a:r>
            <a:r>
              <a:rPr lang="ru-RU" sz="2000" b="1" dirty="0">
                <a:effectLst/>
                <a:ea typeface="Times New Roman" panose="02020603050405020304" pitchFamily="18" charset="0"/>
              </a:rPr>
              <a:t>Пробки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Признаки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: Traffic Commute Time Index (0.71).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Смысл: мегаполисы, которые стоят в пробках.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0C2630-BE5C-1145-BEC6-80E938A88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3769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F84AB-A21A-4340-8047-C312267D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/>
              <a:t>Интерпретация главных компонент</a:t>
            </a:r>
            <a:endParaRPr lang="ru-RU" sz="3600" b="1" dirty="0">
              <a:ea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20D306-FACC-8D44-85C9-02ED005BF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D736163-2FCB-334E-A125-9B639E624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04" y="986414"/>
            <a:ext cx="110857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2BF50A4-4A4A-9948-9A8B-E8A705833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314142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87BDF-33F6-C94F-BE73-65A3457755C3}"/>
              </a:ext>
            </a:extLst>
          </p:cNvPr>
          <p:cNvSpPr txBox="1"/>
          <p:nvPr/>
        </p:nvSpPr>
        <p:spPr>
          <a:xfrm>
            <a:off x="628651" y="912596"/>
            <a:ext cx="78866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>
              <a:lnSpc>
                <a:spcPct val="150000"/>
              </a:lnSpc>
            </a:pPr>
            <a:r>
              <a:rPr lang="ru-RU" b="1" dirty="0">
                <a:effectLst/>
                <a:ea typeface="Times New Roman" panose="02020603050405020304" pitchFamily="18" charset="0"/>
              </a:rPr>
              <a:t>PC5: Структура расходов (покупки </a:t>
            </a:r>
            <a:r>
              <a:rPr lang="ru-RU" b="1" dirty="0" err="1">
                <a:effectLst/>
                <a:ea typeface="Times New Roman" panose="02020603050405020304" pitchFamily="18" charset="0"/>
              </a:rPr>
              <a:t>vs</a:t>
            </a:r>
            <a:r>
              <a:rPr lang="ru-RU" b="1" dirty="0">
                <a:effectLst/>
                <a:ea typeface="Times New Roman" panose="02020603050405020304" pitchFamily="18" charset="0"/>
              </a:rPr>
              <a:t> недвижимость)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Признаки: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Cost</a:t>
            </a:r>
            <a:r>
              <a:rPr lang="ru-RU" dirty="0">
                <a:effectLst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of</a:t>
            </a:r>
            <a:r>
              <a:rPr lang="ru-RU" dirty="0">
                <a:effectLst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Living</a:t>
            </a:r>
            <a:r>
              <a:rPr lang="ru-RU" dirty="0">
                <a:effectLst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Index</a:t>
            </a:r>
            <a:r>
              <a:rPr lang="ru-RU" dirty="0">
                <a:effectLst/>
                <a:ea typeface="Times New Roman" panose="02020603050405020304" pitchFamily="18" charset="0"/>
              </a:rPr>
              <a:t> (0.45),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Property</a:t>
            </a:r>
            <a:r>
              <a:rPr lang="ru-RU" dirty="0">
                <a:effectLst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Price</a:t>
            </a:r>
            <a:r>
              <a:rPr lang="ru-RU" dirty="0">
                <a:effectLst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to</a:t>
            </a:r>
            <a:r>
              <a:rPr lang="ru-RU" dirty="0">
                <a:effectLst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Income</a:t>
            </a:r>
            <a:r>
              <a:rPr lang="ru-RU" dirty="0">
                <a:effectLst/>
                <a:ea typeface="Times New Roman" panose="02020603050405020304" pitchFamily="18" charset="0"/>
              </a:rPr>
              <a:t> </a:t>
            </a:r>
            <a:r>
              <a:rPr lang="ru-RU" dirty="0" err="1">
                <a:effectLst/>
                <a:ea typeface="Times New Roman" panose="02020603050405020304" pitchFamily="18" charset="0"/>
              </a:rPr>
              <a:t>Ratio</a:t>
            </a:r>
            <a:r>
              <a:rPr lang="ru-RU" dirty="0">
                <a:effectLst/>
                <a:ea typeface="Times New Roman" panose="02020603050405020304" pitchFamily="18" charset="0"/>
              </a:rPr>
              <a:t> (-0.65).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Смысл: разделение дорогих для жизни городов и города с недоступным жильем.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Высокий PC5 (Дорого жить, легко купить жилье): города, где дорогие продукты и услуги, но зарплаты позволяют купить жилье быстрее (США, Швейцария).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Низкий PC5 (Дешево жить, сложно купить жилье): города, где еда и транспорт дешевые, но копить на квартиру нужно 50 лет из-за низких зарплат и пузыря недвижимости (Китай, Вьетнам, Филиппины).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9832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kern="0" dirty="0" err="1">
                <a:ea typeface="Times New Roman" panose="02020603050405020304" pitchFamily="18" charset="0"/>
              </a:rPr>
              <a:t>О</a:t>
            </a:r>
            <a:r>
              <a:rPr lang="ru-RU" sz="2800" kern="0" dirty="0" err="1">
                <a:effectLst/>
                <a:ea typeface="Times New Roman" panose="02020603050405020304" pitchFamily="18" charset="0"/>
              </a:rPr>
              <a:t>птимальное</a:t>
            </a:r>
            <a:r>
              <a:rPr lang="ru-RU" sz="2800" kern="0" dirty="0">
                <a:effectLst/>
                <a:ea typeface="Times New Roman" panose="02020603050405020304" pitchFamily="18" charset="0"/>
              </a:rPr>
              <a:t> число кластеров</a:t>
            </a:r>
            <a:r>
              <a:rPr lang="ru-RU" sz="3600" dirty="0">
                <a:effectLst/>
              </a:rPr>
              <a:t> </a:t>
            </a:r>
            <a:r>
              <a:rPr lang="en-GB" sz="2800" kern="0" dirty="0" err="1"/>
              <a:t>д</a:t>
            </a:r>
            <a:r>
              <a:rPr lang="ru-RU" sz="2800" kern="0" dirty="0"/>
              <a:t>ля </a:t>
            </a:r>
            <a:r>
              <a:rPr lang="ru-RU" sz="2800" kern="0" dirty="0" err="1"/>
              <a:t>K</a:t>
            </a:r>
            <a:r>
              <a:rPr lang="en-GB" sz="2800" kern="0" dirty="0"/>
              <a:t>-Means</a:t>
            </a:r>
            <a:endParaRPr lang="ru-RU" sz="28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778169-FB68-8C44-8CBD-B19C52A4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22" y="1469147"/>
            <a:ext cx="8024228" cy="4551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19897F-0FF1-C24B-86C8-6841B72B8D6A}"/>
                  </a:ext>
                </a:extLst>
              </p:cNvPr>
              <p:cNvSpPr txBox="1"/>
              <p:nvPr/>
            </p:nvSpPr>
            <p:spPr>
              <a:xfrm>
                <a:off x="628650" y="924614"/>
                <a:ext cx="78867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kern="0" dirty="0">
                    <a:ea typeface="Times New Roman" panose="02020603050405020304" pitchFamily="18" charset="0"/>
                  </a:rPr>
                  <a:t>Оптимальное число кластеров для </a:t>
                </a:r>
                <a:r>
                  <a:rPr lang="en-GB" kern="0" dirty="0">
                    <a:ea typeface="Times New Roman" panose="02020603050405020304" pitchFamily="18" charset="0"/>
                  </a:rPr>
                  <a:t>K-Means </a:t>
                </a:r>
                <a:r>
                  <a:rPr lang="ru-RU" sz="1800" kern="0" dirty="0">
                    <a:effectLst/>
                    <a:ea typeface="Times New Roman" panose="02020603050405020304" pitchFamily="18" charset="0"/>
                  </a:rPr>
                  <a:t>в диапазоне </a:t>
                </a:r>
                <a14:m>
                  <m:oMath xmlns:m="http://schemas.openxmlformats.org/officeDocument/2006/math"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=4...6</m:t>
                    </m:r>
                  </m:oMath>
                </a14:m>
                <a:r>
                  <a:rPr lang="ru-RU" dirty="0">
                    <a:effectLst/>
                  </a:rPr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19897F-0FF1-C24B-86C8-6841B72B8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924614"/>
                <a:ext cx="7886700" cy="369332"/>
              </a:xfrm>
              <a:prstGeom prst="rect">
                <a:avLst/>
              </a:prstGeom>
              <a:blipFill>
                <a:blip r:embed="rId3"/>
                <a:stretch>
                  <a:fillRect l="-643" t="-6667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96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400" kern="0" dirty="0" err="1">
                <a:ea typeface="Times New Roman" panose="02020603050405020304" pitchFamily="18" charset="0"/>
              </a:rPr>
              <a:t>О</a:t>
            </a:r>
            <a:r>
              <a:rPr lang="ru-RU" sz="2400" kern="0" dirty="0" err="1">
                <a:effectLst/>
                <a:ea typeface="Times New Roman" panose="02020603050405020304" pitchFamily="18" charset="0"/>
              </a:rPr>
              <a:t>птимальное</a:t>
            </a:r>
            <a:r>
              <a:rPr lang="ru-RU" sz="2400" kern="0" dirty="0">
                <a:effectLst/>
                <a:ea typeface="Times New Roman" panose="02020603050405020304" pitchFamily="18" charset="0"/>
              </a:rPr>
              <a:t> число </a:t>
            </a:r>
            <a:r>
              <a:rPr lang="ru-RU" sz="2400" kern="0" dirty="0"/>
              <a:t>кластеров для </a:t>
            </a:r>
            <a:r>
              <a:rPr lang="en-US" sz="2400" kern="0" dirty="0"/>
              <a:t>Agglomerative Clustering </a:t>
            </a:r>
            <a:endParaRPr lang="ru-RU" sz="24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9897F-0FF1-C24B-86C8-6841B72B8D6A}"/>
              </a:ext>
            </a:extLst>
          </p:cNvPr>
          <p:cNvSpPr txBox="1"/>
          <p:nvPr/>
        </p:nvSpPr>
        <p:spPr>
          <a:xfrm>
            <a:off x="628650" y="924614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Average</a:t>
            </a:r>
            <a:r>
              <a:rPr lang="ru-RU" dirty="0"/>
              <a:t> </a:t>
            </a:r>
            <a:r>
              <a:rPr lang="ru-RU" dirty="0" err="1"/>
              <a:t>Linkage</a:t>
            </a:r>
            <a:r>
              <a:rPr lang="ru-RU" dirty="0"/>
              <a:t> продемонстрировал цепной эффект, последовательно отделяя одиночные выбросы, что делает его непригодным для кластеризации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BE32A40-C26C-614C-A397-1A4625B10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25809"/>
            <a:ext cx="7886700" cy="454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06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400" kern="0" dirty="0" err="1">
                <a:ea typeface="Times New Roman" panose="02020603050405020304" pitchFamily="18" charset="0"/>
              </a:rPr>
              <a:t>О</a:t>
            </a:r>
            <a:r>
              <a:rPr lang="ru-RU" sz="2400" kern="0" dirty="0" err="1">
                <a:effectLst/>
                <a:ea typeface="Times New Roman" panose="02020603050405020304" pitchFamily="18" charset="0"/>
              </a:rPr>
              <a:t>птимальное</a:t>
            </a:r>
            <a:r>
              <a:rPr lang="ru-RU" sz="2400" kern="0" dirty="0">
                <a:effectLst/>
                <a:ea typeface="Times New Roman" panose="02020603050405020304" pitchFamily="18" charset="0"/>
              </a:rPr>
              <a:t> число </a:t>
            </a:r>
            <a:r>
              <a:rPr lang="ru-RU" sz="2400" kern="0" dirty="0"/>
              <a:t>кластеров для </a:t>
            </a:r>
            <a:r>
              <a:rPr lang="en-US" sz="2400" kern="0" dirty="0"/>
              <a:t>Agglomerative Clustering </a:t>
            </a:r>
            <a:endParaRPr lang="ru-RU" sz="24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9897F-0FF1-C24B-86C8-6841B72B8D6A}"/>
              </a:ext>
            </a:extLst>
          </p:cNvPr>
          <p:cNvSpPr txBox="1"/>
          <p:nvPr/>
        </p:nvSpPr>
        <p:spPr>
          <a:xfrm>
            <a:off x="628650" y="924614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ea typeface="Times New Roman" panose="02020603050405020304" pitchFamily="18" charset="0"/>
              </a:rPr>
              <a:t>Метод </a:t>
            </a:r>
            <a:r>
              <a:rPr lang="ru-RU" sz="1800" kern="0" dirty="0" err="1">
                <a:effectLst/>
                <a:ea typeface="Times New Roman" panose="02020603050405020304" pitchFamily="18" charset="0"/>
              </a:rPr>
              <a:t>Ward</a:t>
            </a:r>
            <a:r>
              <a:rPr lang="ru-RU" sz="1800" kern="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kern="0" dirty="0" err="1">
                <a:effectLst/>
                <a:ea typeface="Times New Roman" panose="02020603050405020304" pitchFamily="18" charset="0"/>
              </a:rPr>
              <a:t>Linkage</a:t>
            </a:r>
            <a:r>
              <a:rPr lang="ru-RU" kern="0" dirty="0">
                <a:ea typeface="Times New Roman" panose="02020603050405020304" pitchFamily="18" charset="0"/>
              </a:rPr>
              <a:t> </a:t>
            </a:r>
            <a:r>
              <a:rPr lang="ru-RU" sz="1800" kern="0" dirty="0">
                <a:effectLst/>
                <a:ea typeface="Times New Roman" panose="02020603050405020304" pitchFamily="18" charset="0"/>
              </a:rPr>
              <a:t>показал сбалансированную древовидную структуру с четким разделением на 4–6 крупных ветвей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FC7F61-F6E5-744D-91B6-3D2179DE4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72452"/>
            <a:ext cx="7886700" cy="450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4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400" kern="0" dirty="0">
                <a:ea typeface="Times New Roman" panose="02020603050405020304" pitchFamily="18" charset="0"/>
              </a:rPr>
              <a:t>Модели кластеризации</a:t>
            </a:r>
            <a:endParaRPr lang="ru-RU" sz="24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9897F-0FF1-C24B-86C8-6841B72B8D6A}"/>
              </a:ext>
            </a:extLst>
          </p:cNvPr>
          <p:cNvSpPr txBox="1"/>
          <p:nvPr/>
        </p:nvSpPr>
        <p:spPr>
          <a:xfrm>
            <a:off x="628650" y="924614"/>
            <a:ext cx="78867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effectLst/>
                <a:ea typeface="Times New Roman" panose="02020603050405020304" pitchFamily="18" charset="0"/>
              </a:rPr>
              <a:t>Базовые модели: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K-Means 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с разными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random_state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(42, 100);</a:t>
            </a:r>
            <a:endParaRPr lang="ru-RU" sz="2400" dirty="0">
              <a:effectLst/>
              <a:ea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Agglomerative Clustering 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с разными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linkage (w</a:t>
            </a:r>
            <a:r>
              <a:rPr lang="en-GB" sz="2400" dirty="0" err="1">
                <a:effectLst/>
                <a:ea typeface="Times New Roman" panose="02020603050405020304" pitchFamily="18" charset="0"/>
              </a:rPr>
              <a:t>ard</a:t>
            </a:r>
            <a:r>
              <a:rPr lang="en-GB" sz="2400" dirty="0">
                <a:effectLst/>
                <a:ea typeface="Times New Roman" panose="02020603050405020304" pitchFamily="18" charset="0"/>
              </a:rPr>
              <a:t>, 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a</a:t>
            </a:r>
            <a:r>
              <a:rPr lang="en-GB" sz="2400" dirty="0" err="1">
                <a:effectLst/>
                <a:ea typeface="Times New Roman" panose="02020603050405020304" pitchFamily="18" charset="0"/>
              </a:rPr>
              <a:t>verage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);</a:t>
            </a:r>
            <a:endParaRPr lang="ru-RU" sz="2400" dirty="0">
              <a:effectLst/>
              <a:ea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Gaussian Mixture.</a:t>
            </a:r>
            <a:endParaRPr lang="ru-RU" sz="24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ea typeface="Times New Roman" panose="02020603050405020304" pitchFamily="18" charset="0"/>
              </a:rPr>
              <a:t>А</a:t>
            </a:r>
            <a:r>
              <a:rPr lang="ru-RU" sz="2400" b="1" dirty="0">
                <a:effectLst/>
                <a:ea typeface="Times New Roman" panose="02020603050405020304" pitchFamily="18" charset="0"/>
              </a:rPr>
              <a:t>нсамбли: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Co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-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association</a:t>
            </a:r>
            <a:r>
              <a:rPr lang="en-GB" sz="2400" dirty="0">
                <a:effectLst/>
                <a:ea typeface="Times New Roman" panose="02020603050405020304" pitchFamily="18" charset="0"/>
              </a:rPr>
              <a:t>;</a:t>
            </a:r>
            <a:endParaRPr lang="ru-RU" sz="2400" dirty="0">
              <a:effectLst/>
              <a:ea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Ансамбль Миркина (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Ensemble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ea typeface="Times New Roman" panose="02020603050405020304" pitchFamily="18" charset="0"/>
              </a:rPr>
              <a:t>Mirkin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99281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400" kern="0" dirty="0">
                <a:effectLst/>
                <a:ea typeface="Times New Roman" panose="02020603050405020304" pitchFamily="18" charset="0"/>
              </a:rPr>
              <a:t>Сравнительный анализ моделей кластеризации</a:t>
            </a:r>
            <a:endParaRPr lang="ru-RU" sz="32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19</a:t>
            </a:fld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4D1399A-632A-F34F-B6C9-31FCA2F16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19610"/>
              </p:ext>
            </p:extLst>
          </p:nvPr>
        </p:nvGraphicFramePr>
        <p:xfrm>
          <a:off x="628648" y="914400"/>
          <a:ext cx="7886702" cy="5383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5092">
                  <a:extLst>
                    <a:ext uri="{9D8B030D-6E8A-4147-A177-3AD203B41FA5}">
                      <a16:colId xmlns:a16="http://schemas.microsoft.com/office/drawing/2014/main" val="2779112514"/>
                    </a:ext>
                  </a:extLst>
                </a:gridCol>
                <a:gridCol w="1275092">
                  <a:extLst>
                    <a:ext uri="{9D8B030D-6E8A-4147-A177-3AD203B41FA5}">
                      <a16:colId xmlns:a16="http://schemas.microsoft.com/office/drawing/2014/main" val="867499966"/>
                    </a:ext>
                  </a:extLst>
                </a:gridCol>
                <a:gridCol w="1275092">
                  <a:extLst>
                    <a:ext uri="{9D8B030D-6E8A-4147-A177-3AD203B41FA5}">
                      <a16:colId xmlns:a16="http://schemas.microsoft.com/office/drawing/2014/main" val="2014081867"/>
                    </a:ext>
                  </a:extLst>
                </a:gridCol>
                <a:gridCol w="1275092">
                  <a:extLst>
                    <a:ext uri="{9D8B030D-6E8A-4147-A177-3AD203B41FA5}">
                      <a16:colId xmlns:a16="http://schemas.microsoft.com/office/drawing/2014/main" val="3938072727"/>
                    </a:ext>
                  </a:extLst>
                </a:gridCol>
                <a:gridCol w="1275092">
                  <a:extLst>
                    <a:ext uri="{9D8B030D-6E8A-4147-A177-3AD203B41FA5}">
                      <a16:colId xmlns:a16="http://schemas.microsoft.com/office/drawing/2014/main" val="4100975546"/>
                    </a:ext>
                  </a:extLst>
                </a:gridCol>
                <a:gridCol w="1511242">
                  <a:extLst>
                    <a:ext uri="{9D8B030D-6E8A-4147-A177-3AD203B41FA5}">
                      <a16:colId xmlns:a16="http://schemas.microsoft.com/office/drawing/2014/main" val="1698789666"/>
                    </a:ext>
                  </a:extLst>
                </a:gridCol>
              </a:tblGrid>
              <a:tr h="4788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model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br>
                        <a:rPr lang="ru-RU" sz="1200" kern="100">
                          <a:effectLst/>
                        </a:rPr>
                      </a:br>
                      <a:r>
                        <a:rPr lang="ru-RU" sz="1200" kern="100">
                          <a:effectLst/>
                        </a:rPr>
                        <a:t>Silhouette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CH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Davies-Bouldin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R2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cluster_sizes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15148223"/>
                  </a:ext>
                </a:extLst>
              </a:tr>
              <a:tr h="67703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AgglomerativeClustering_average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0.217783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48.580176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1.175425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0.470829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147,94,21,9,7,1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70029748"/>
                  </a:ext>
                </a:extLst>
              </a:tr>
              <a:tr h="4788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KMeans_rs100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0.178502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66.735160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1.587497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0.550007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77,57,55,43,26,21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00730608"/>
                  </a:ext>
                </a:extLst>
              </a:tr>
              <a:tr h="4788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KMeans_rs42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0.178095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67.266489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1.539533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0.551969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63,61,60,40,36,19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592958719"/>
                  </a:ext>
                </a:extLst>
              </a:tr>
              <a:tr h="4788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Ensemble_Mirkin_ward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0.178095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67.266489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1.539533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0.551969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63,61,60,40,36,19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21462968"/>
                  </a:ext>
                </a:extLst>
              </a:tr>
              <a:tr h="4788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Ensemble_Mirkin_average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0.178095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67.266489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1.539533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0.551969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63,61,60,40,36,19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69796112"/>
                  </a:ext>
                </a:extLst>
              </a:tr>
              <a:tr h="67703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Ensemble_Coassoc_average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0.168939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63.576904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1.633543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0.537981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67,64,60,36,32,20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37237903"/>
                  </a:ext>
                </a:extLst>
              </a:tr>
              <a:tr h="4788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Ensemble_Coassoc_ward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0.164828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61.309494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1.634752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0.528943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71,69,48,38,35,18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18511837"/>
                  </a:ext>
                </a:extLst>
              </a:tr>
              <a:tr h="677030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AgglomerativeClustering_ward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0.163094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59.412804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1.660182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0.521106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68,65,48,46,31,21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10254429"/>
                  </a:ext>
                </a:extLst>
              </a:tr>
              <a:tr h="478875"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GaussianMixture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0.145331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54.305047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1.664532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>
                          <a:effectLst/>
                        </a:rPr>
                        <a:t>0.498646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200" kern="100" dirty="0">
                          <a:effectLst/>
                        </a:rPr>
                        <a:t>77,73,43,33,33,20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128207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150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400" kern="0" dirty="0">
                <a:effectLst/>
                <a:ea typeface="Times New Roman" panose="02020603050405020304" pitchFamily="18" charset="0"/>
              </a:rPr>
              <a:t>Сравнительный анализ моделей кластеризации</a:t>
            </a:r>
            <a:endParaRPr lang="ru-RU" sz="32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DC180-0BD9-E540-91A3-AAE5AB1C080E}"/>
              </a:ext>
            </a:extLst>
          </p:cNvPr>
          <p:cNvSpPr txBox="1"/>
          <p:nvPr/>
        </p:nvSpPr>
        <p:spPr>
          <a:xfrm>
            <a:off x="654932" y="723107"/>
            <a:ext cx="7886700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kern="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AgglomerativeClustering</a:t>
            </a:r>
            <a:r>
              <a:rPr lang="ru-RU" sz="2000" dirty="0">
                <a:effectLst/>
              </a:rPr>
              <a:t> (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a</a:t>
            </a:r>
            <a:r>
              <a:rPr lang="en-GB" sz="2000" dirty="0" err="1">
                <a:effectLst/>
                <a:ea typeface="Times New Roman" panose="02020603050405020304" pitchFamily="18" charset="0"/>
              </a:rPr>
              <a:t>verage</a:t>
            </a:r>
            <a:r>
              <a:rPr lang="en-GB" sz="2000" dirty="0">
                <a:effectLst/>
                <a:ea typeface="Times New Roman" panose="02020603050405020304" pitchFamily="18" charset="0"/>
              </a:rPr>
              <a:t> linkage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)</a:t>
            </a:r>
            <a:r>
              <a:rPr lang="en-GB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показала наивысший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Silhouette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Score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(0.218), но была отвергнута из-за вырождения кластеров (размеры: 147, 94, ..., 1).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err="1">
                <a:effectLst/>
                <a:ea typeface="Times New Roman" panose="02020603050405020304" pitchFamily="18" charset="0"/>
              </a:rPr>
              <a:t>Ensemble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Mirkin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(идентичен KMeans_rs42) показал наилучший баланс.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У KMeans_rs100 немного выше силуэт, но немного ниже CH. Метод Миркина ищет существующее разбиение из списка базовых моделей, которое ближе всего ко всем остальным (в данном случае это разбиение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K-Means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err="1">
                <a:effectLst/>
                <a:ea typeface="Times New Roman" panose="02020603050405020304" pitchFamily="18" charset="0"/>
              </a:rPr>
              <a:t>Gaussian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Mixture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(GMM) дает самые низкие показатели. Вероятно, данные в этом признаковом пространстве лучше описываются сферическими кластерами, чем эллипсоидными.</a:t>
            </a:r>
          </a:p>
        </p:txBody>
      </p:sp>
    </p:spTree>
    <p:extLst>
      <p:ext uri="{BB962C8B-B14F-4D97-AF65-F5344CB8AC3E}">
        <p14:creationId xmlns:p14="http://schemas.microsoft.com/office/powerpoint/2010/main" val="3937149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400" kern="0" dirty="0"/>
              <a:t>Кластеризация </a:t>
            </a:r>
            <a:r>
              <a:rPr lang="ru-RU" sz="2400" kern="0" dirty="0" err="1"/>
              <a:t>K-Means</a:t>
            </a:r>
            <a:r>
              <a:rPr lang="ru-RU" sz="2400" kern="0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21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74AD55-42F4-904B-BA3A-B98119E29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7" y="887365"/>
            <a:ext cx="7454646" cy="524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11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400" kern="0" dirty="0">
                <a:effectLst/>
                <a:ea typeface="Times New Roman" panose="02020603050405020304" pitchFamily="18" charset="0"/>
              </a:rPr>
              <a:t>Тепловая карта медианных показателей по кластерам</a:t>
            </a:r>
            <a:r>
              <a:rPr lang="ru-RU" sz="2800" dirty="0">
                <a:effectLst/>
              </a:rPr>
              <a:t> </a:t>
            </a:r>
            <a:endParaRPr lang="ru-RU" sz="48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22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3ADA22-B45B-6B4E-AF1A-A48026051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8" y="1155580"/>
            <a:ext cx="8706709" cy="438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5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>
                <a:effectLst/>
                <a:ea typeface="Times New Roman" panose="02020603050405020304" pitchFamily="18" charset="0"/>
              </a:rPr>
              <a:t>Интерпретация полученных кластеров</a:t>
            </a:r>
            <a:r>
              <a:rPr lang="ru-RU" sz="2400" dirty="0">
                <a:effectLst/>
              </a:rPr>
              <a:t> 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</a:pPr>
            <a:r>
              <a:rPr lang="ru-RU" b="1" dirty="0">
                <a:effectLst/>
                <a:ea typeface="Times New Roman" panose="02020603050405020304" pitchFamily="18" charset="0"/>
              </a:rPr>
              <a:t>Кластер 0: Богатые, но опасные</a:t>
            </a:r>
            <a:endParaRPr lang="ru-RU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Плюсы: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Самая высокая покупательная способность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Самое доступное жилье относительно доходов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Хороший климат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Минусы: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Очень низкий уровень безопасности: на уровне стран третьего мира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Средняя оценка качества здравоохранения (хуже чем у кластера 2)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Вывод: Города с хорошей экономикой, где легко купить дом и заработать состояние, но приходится мириться с высокой преступностью.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Примеры</a:t>
            </a:r>
            <a:r>
              <a:rPr lang="en-US" dirty="0">
                <a:effectLst/>
                <a:ea typeface="Times New Roman" panose="02020603050405020304" pitchFamily="18" charset="0"/>
              </a:rPr>
              <a:t>: Perth,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Raleigh,NC</a:t>
            </a:r>
            <a:r>
              <a:rPr lang="en-US" dirty="0">
                <a:effectLst/>
                <a:ea typeface="Times New Roman" panose="02020603050405020304" pitchFamily="18" charset="0"/>
              </a:rPr>
              <a:t>, Melbourne, Kansas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City,MO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Cincinnati,OH</a:t>
            </a:r>
            <a:r>
              <a:rPr lang="en-US" dirty="0">
                <a:effectLst/>
                <a:ea typeface="Times New Roman" panose="02020603050405020304" pitchFamily="18" charset="0"/>
              </a:rPr>
              <a:t>, Wellington,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Portland,OR</a:t>
            </a:r>
            <a:r>
              <a:rPr lang="en-US" dirty="0">
                <a:effectLst/>
                <a:ea typeface="Times New Roman" panose="02020603050405020304" pitchFamily="18" charset="0"/>
              </a:rPr>
              <a:t>, Saint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Louis,MO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Seattle,WA</a:t>
            </a:r>
            <a:r>
              <a:rPr lang="en-US" dirty="0">
                <a:effectLst/>
                <a:ea typeface="Times New Roman" panose="02020603050405020304" pitchFamily="18" charset="0"/>
              </a:rPr>
              <a:t>, San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Antonio,TX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  <a:endParaRPr lang="ru-RU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623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>
                <a:effectLst/>
                <a:ea typeface="Times New Roman" panose="02020603050405020304" pitchFamily="18" charset="0"/>
              </a:rPr>
              <a:t>Интерпретация полученных кластеров</a:t>
            </a:r>
            <a:r>
              <a:rPr lang="ru-RU" sz="2400" dirty="0">
                <a:effectLst/>
              </a:rPr>
              <a:t> 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Bef>
                <a:spcPts val="1200"/>
              </a:spcBef>
            </a:pPr>
            <a:r>
              <a:rPr lang="ru-RU" b="1" dirty="0">
                <a:effectLst/>
                <a:ea typeface="Times New Roman" panose="02020603050405020304" pitchFamily="18" charset="0"/>
              </a:rPr>
              <a:t>Кластер 1: Перенаселенные мегаполисы</a:t>
            </a:r>
            <a:endParaRPr lang="ru-RU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Плюсы: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Самая низкая стоимость жизни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Хороший климат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Минусы: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Самая </a:t>
            </a:r>
            <a:r>
              <a:rPr lang="ru-RU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загрязнененная</a:t>
            </a: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среда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Самый тяжелые пробки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Очень низкая покупательная способность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Вывод: Перенаселенные мегаполисы, с большими проблемами с экономикой, экологией и пробками.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Примеры</a:t>
            </a:r>
            <a:r>
              <a:rPr lang="en-US" dirty="0">
                <a:effectLst/>
                <a:ea typeface="Times New Roman" panose="02020603050405020304" pitchFamily="18" charset="0"/>
              </a:rPr>
              <a:t>: Bangalore, Coimbatore, Moscow, Noida, Quito, Gurgaon, Saint Petersburg, Istanbul, Belo Horizonte, San Jose.</a:t>
            </a:r>
            <a:endParaRPr lang="ru-RU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924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>
                <a:effectLst/>
                <a:ea typeface="Times New Roman" panose="02020603050405020304" pitchFamily="18" charset="0"/>
              </a:rPr>
              <a:t>Интерпретация полученных кластеров</a:t>
            </a:r>
            <a:r>
              <a:rPr lang="ru-RU" sz="2400" dirty="0">
                <a:effectLst/>
              </a:rPr>
              <a:t> 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Bef>
                <a:spcPts val="1200"/>
              </a:spcBef>
            </a:pPr>
            <a:r>
              <a:rPr lang="ru-RU" b="1" dirty="0">
                <a:effectLst/>
                <a:ea typeface="Times New Roman" panose="02020603050405020304" pitchFamily="18" charset="0"/>
              </a:rPr>
              <a:t>Кластер 2: Лучшие города для жизни</a:t>
            </a:r>
            <a:endParaRPr lang="ru-RU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Плюсы: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Самое высокое качество жизни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Самый высокий уровень безопасности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Самый высокий уровень медицины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Высокая покупательная способность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Минимальное загрязнение окружающей среды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Минусы: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Высокая стоимость жизни (повседневных товаров), хотя она компенсируется высокими доходами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Вывод: Самые комфортные, чистые и безопасные города.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Примеры</a:t>
            </a:r>
            <a:r>
              <a:rPr lang="en-US" dirty="0">
                <a:effectLst/>
                <a:ea typeface="Times New Roman" panose="02020603050405020304" pitchFamily="18" charset="0"/>
              </a:rPr>
              <a:t>: The Hague (Den Haag), Groningen, Eindhoven, Bern, Utrecht, Basel, Stavanger, Valencia, Luxembourg, Rotterdam.</a:t>
            </a:r>
            <a:endParaRPr lang="ru-RU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609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>
                <a:effectLst/>
                <a:ea typeface="Times New Roman" panose="02020603050405020304" pitchFamily="18" charset="0"/>
              </a:rPr>
              <a:t>Интерпретация полученных кластеров</a:t>
            </a:r>
            <a:r>
              <a:rPr lang="ru-RU" sz="2400" dirty="0">
                <a:effectLst/>
              </a:rPr>
              <a:t> 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Bef>
                <a:spcPts val="1200"/>
              </a:spcBef>
            </a:pPr>
            <a:r>
              <a:rPr lang="ru-RU" b="1" dirty="0">
                <a:effectLst/>
                <a:ea typeface="Times New Roman" panose="02020603050405020304" pitchFamily="18" charset="0"/>
              </a:rPr>
              <a:t>Кластер 3: Города для </a:t>
            </a:r>
            <a:r>
              <a:rPr lang="ru-RU" b="1" dirty="0" err="1">
                <a:effectLst/>
                <a:ea typeface="Times New Roman" panose="02020603050405020304" pitchFamily="18" charset="0"/>
              </a:rPr>
              <a:t>удаленщиков</a:t>
            </a:r>
            <a:endParaRPr lang="ru-RU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Плюсы: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Низкая стоимость жизни (повседневных товаров) 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Хороший уровень безопасности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Хорошая экология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Умеренный трафик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Минусы: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 лучший климат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Покупательная способность средняя</a:t>
            </a:r>
            <a:endParaRPr lang="en-GB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/>
              <a:t>Вывод: Города, предлагающие европейский уровень комфорта и безопасности за небольшие деньги.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Примеры</a:t>
            </a:r>
            <a:r>
              <a:rPr lang="en-US" dirty="0">
                <a:effectLst/>
                <a:ea typeface="Times New Roman" panose="02020603050405020304" pitchFamily="18" charset="0"/>
              </a:rPr>
              <a:t>: Trieste, Timisoara, Cluj-Napoca, Queretaro (Santiago de Querétaro), Poznan, Riga, Limassol, Windhoek, Kaliningrad, Bratislava</a:t>
            </a:r>
            <a:endParaRPr lang="ru-RU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531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>
                <a:effectLst/>
                <a:ea typeface="Times New Roman" panose="02020603050405020304" pitchFamily="18" charset="0"/>
              </a:rPr>
              <a:t>Интерпретация полученных кластеров</a:t>
            </a:r>
            <a:r>
              <a:rPr lang="ru-RU" sz="2400" dirty="0">
                <a:effectLst/>
              </a:rPr>
              <a:t> 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Bef>
                <a:spcPts val="1200"/>
              </a:spcBef>
            </a:pPr>
            <a:r>
              <a:rPr lang="ru-RU" b="1" dirty="0">
                <a:effectLst/>
                <a:ea typeface="Times New Roman" panose="02020603050405020304" pitchFamily="18" charset="0"/>
              </a:rPr>
              <a:t>Кластер 4: Жилищный кризис</a:t>
            </a:r>
            <a:endParaRPr lang="ru-RU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Плюсы: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Низкая стоимость жизни (повседневных товаров)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Минусы: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Катастрофическая недоступность жилья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Высокое загрязнение среды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Низкая покупательная способность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Тратится очень много времени в пути на работу (пробки)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Вывод: Города с огромным разрывом между зарплатами и ценами на недвижимость, часто перенаселенные и экологически неблагополучные.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Примеры</a:t>
            </a:r>
            <a:r>
              <a:rPr lang="en-US" dirty="0">
                <a:effectLst/>
                <a:ea typeface="Times New Roman" panose="02020603050405020304" pitchFamily="18" charset="0"/>
              </a:rPr>
              <a:t>: Seoul, Shenzhen, Taipei, Hong Kong, Guangzhou, Hamilton, Shanghai, Yerevan, Beijing, Bangkok.</a:t>
            </a:r>
            <a:endParaRPr lang="ru-RU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462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>
                <a:effectLst/>
                <a:ea typeface="Times New Roman" panose="02020603050405020304" pitchFamily="18" charset="0"/>
              </a:rPr>
              <a:t>Интерпретация полученных кластеров</a:t>
            </a:r>
            <a:r>
              <a:rPr lang="ru-RU" sz="2400" dirty="0">
                <a:effectLst/>
              </a:rPr>
              <a:t> 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Bef>
                <a:spcPts val="1200"/>
              </a:spcBef>
            </a:pPr>
            <a:r>
              <a:rPr lang="ru-RU" b="1" dirty="0">
                <a:effectLst/>
                <a:ea typeface="Times New Roman" panose="02020603050405020304" pitchFamily="18" charset="0"/>
              </a:rPr>
              <a:t>Кластер 5: Богатые с суровым климатом</a:t>
            </a:r>
            <a:endParaRPr lang="ru-RU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Плюсы: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Высокая покупательная способность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Высокий уровень безопасности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Хорошая экология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Минусы: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Самый низкий климатический индекс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Достаточно высокая стоимость жизни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Вывод: Развитые и безопасные города, где высокий уровень жизни достигается вопреки суровому климату.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ea typeface="Times New Roman" panose="02020603050405020304" pitchFamily="18" charset="0"/>
              </a:rPr>
              <a:t>Примеры</a:t>
            </a:r>
            <a:r>
              <a:rPr lang="en-US" dirty="0">
                <a:effectLst/>
                <a:ea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Madison,WI</a:t>
            </a:r>
            <a:r>
              <a:rPr lang="en-US" dirty="0">
                <a:effectLst/>
                <a:ea typeface="Times New Roman" panose="02020603050405020304" pitchFamily="18" charset="0"/>
              </a:rPr>
              <a:t>, Muscat, Colorado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Springs,CO</a:t>
            </a:r>
            <a:r>
              <a:rPr lang="en-US" dirty="0">
                <a:effectLst/>
                <a:ea typeface="Times New Roman" panose="02020603050405020304" pitchFamily="18" charset="0"/>
              </a:rPr>
              <a:t>, Ottawa,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Minneapolis,MN</a:t>
            </a:r>
            <a:r>
              <a:rPr lang="en-US" dirty="0">
                <a:effectLst/>
                <a:ea typeface="Times New Roman" panose="02020603050405020304" pitchFamily="18" charset="0"/>
              </a:rPr>
              <a:t>, Jeddah (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Jiddah</a:t>
            </a:r>
            <a:r>
              <a:rPr lang="en-US" dirty="0">
                <a:effectLst/>
                <a:ea typeface="Times New Roman" panose="02020603050405020304" pitchFamily="18" charset="0"/>
              </a:rPr>
              <a:t>), Ad Dammam,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Denver,CO</a:t>
            </a:r>
            <a:r>
              <a:rPr lang="en-US" dirty="0">
                <a:effectLst/>
                <a:ea typeface="Times New Roman" panose="02020603050405020304" pitchFamily="18" charset="0"/>
              </a:rPr>
              <a:t>, Salt Lake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City,UT</a:t>
            </a:r>
            <a:r>
              <a:rPr lang="en-US" dirty="0">
                <a:effectLst/>
                <a:ea typeface="Times New Roman" panose="02020603050405020304" pitchFamily="18" charset="0"/>
              </a:rPr>
              <a:t>, Quebec City</a:t>
            </a:r>
            <a:endParaRPr lang="ru-RU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76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/>
              <a:t>Практическая польза кластеризации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just">
              <a:lnSpc>
                <a:spcPct val="150000"/>
              </a:lnSpc>
              <a:spcBef>
                <a:spcPts val="600"/>
              </a:spcBef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Проведенная кластеризация поможет ответить на такие вопросы, как: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выбор места для переезда ("ищу безопасную и комфортную жизнь, готов платить за это" =&gt; Кластер 2)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поиск работы (стоит ли высокая зарплата в городе из Кластера 4 борьбы за жилье и долгих поездок на работу) 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куда инвестировать (недвижимость, безопасность, инфраструктура, экология)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где открывать офис (например, штаб-квартира для международных экспертов)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как привлекать таланты (какие бонусы предлагать сотрудникам из разных городов)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определить целевой рынок для продаж (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premium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-товары в городах кластеров 0 и 5)</a:t>
            </a:r>
          </a:p>
        </p:txBody>
      </p:sp>
    </p:spTree>
    <p:extLst>
      <p:ext uri="{BB962C8B-B14F-4D97-AF65-F5344CB8AC3E}">
        <p14:creationId xmlns:p14="http://schemas.microsoft.com/office/powerpoint/2010/main" val="2935751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/>
              <a:t>Анализ аномалий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3881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just">
              <a:lnSpc>
                <a:spcPct val="150000"/>
              </a:lnSpc>
              <a:spcBef>
                <a:spcPts val="600"/>
              </a:spcBef>
            </a:pPr>
            <a:r>
              <a:rPr lang="ru-RU" sz="2000" kern="0" dirty="0" err="1">
                <a:effectLst/>
                <a:ea typeface="Times New Roman" panose="02020603050405020304" pitchFamily="18" charset="0"/>
              </a:rPr>
              <a:t>Anomalies</a:t>
            </a:r>
            <a:r>
              <a:rPr lang="ru-RU" sz="2000" kern="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kern="0" dirty="0" err="1">
                <a:effectLst/>
                <a:ea typeface="Times New Roman" panose="02020603050405020304" pitchFamily="18" charset="0"/>
              </a:rPr>
              <a:t>Detection</a:t>
            </a:r>
            <a:r>
              <a:rPr lang="ru-RU" sz="2000" kern="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kern="0" dirty="0" err="1">
                <a:effectLst/>
                <a:ea typeface="Times New Roman" panose="02020603050405020304" pitchFamily="18" charset="0"/>
              </a:rPr>
              <a:t>Ensemble</a:t>
            </a:r>
            <a:r>
              <a:rPr lang="ru-RU" sz="2000" kern="0" dirty="0">
                <a:effectLst/>
                <a:ea typeface="Times New Roman" panose="02020603050405020304" pitchFamily="18" charset="0"/>
              </a:rPr>
              <a:t> с использованием библиотеки </a:t>
            </a:r>
            <a:r>
              <a:rPr lang="ru-RU" sz="2000" kern="0" dirty="0" err="1">
                <a:effectLst/>
                <a:ea typeface="Times New Roman" panose="02020603050405020304" pitchFamily="18" charset="0"/>
              </a:rPr>
              <a:t>pyod</a:t>
            </a:r>
            <a:r>
              <a:rPr lang="ru-RU" sz="2000" kern="0" dirty="0">
                <a:effectLst/>
                <a:ea typeface="Times New Roman" panose="02020603050405020304" pitchFamily="18" charset="0"/>
              </a:rPr>
              <a:t>.</a:t>
            </a:r>
          </a:p>
          <a:p>
            <a:pPr indent="226695" algn="just">
              <a:lnSpc>
                <a:spcPct val="150000"/>
              </a:lnSpc>
              <a:spcBef>
                <a:spcPts val="600"/>
              </a:spcBef>
            </a:pPr>
            <a:r>
              <a:rPr lang="ru-RU" sz="2000" kern="0" dirty="0">
                <a:effectLst/>
                <a:ea typeface="Times New Roman" panose="02020603050405020304" pitchFamily="18" charset="0"/>
              </a:rPr>
              <a:t>Решение принималось методом голосования (</a:t>
            </a:r>
            <a:r>
              <a:rPr lang="ru-RU" sz="2000" kern="0" dirty="0" err="1">
                <a:effectLst/>
                <a:ea typeface="Times New Roman" panose="02020603050405020304" pitchFamily="18" charset="0"/>
              </a:rPr>
              <a:t>Majority</a:t>
            </a:r>
            <a:r>
              <a:rPr lang="ru-RU" sz="2000" kern="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kern="0" dirty="0" err="1">
                <a:effectLst/>
                <a:ea typeface="Times New Roman" panose="02020603050405020304" pitchFamily="18" charset="0"/>
              </a:rPr>
              <a:t>Voting</a:t>
            </a:r>
            <a:r>
              <a:rPr lang="ru-RU" sz="2000" kern="0" dirty="0">
                <a:effectLst/>
                <a:ea typeface="Times New Roman" panose="02020603050405020304" pitchFamily="18" charset="0"/>
              </a:rPr>
              <a:t>) трех алгоритмов:</a:t>
            </a:r>
            <a:r>
              <a:rPr lang="ru-RU" sz="2000" dirty="0">
                <a:effectLst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KNN (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k-Nearest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Neighbors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).</a:t>
            </a:r>
          </a:p>
          <a:p>
            <a:pPr marL="800100" lvl="1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 err="1">
                <a:effectLst/>
                <a:ea typeface="Times New Roman" panose="02020603050405020304" pitchFamily="18" charset="0"/>
              </a:rPr>
              <a:t>IForest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(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Isolation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Forest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).</a:t>
            </a:r>
          </a:p>
          <a:p>
            <a:pPr marL="800100" lvl="1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ru-RU" sz="2000" dirty="0">
                <a:effectLst/>
                <a:ea typeface="Times New Roman" panose="02020603050405020304" pitchFamily="18" charset="0"/>
              </a:rPr>
              <a:t>COPOD.</a:t>
            </a:r>
          </a:p>
          <a:p>
            <a:pPr indent="226695" algn="just">
              <a:lnSpc>
                <a:spcPct val="150000"/>
              </a:lnSpc>
              <a:spcBef>
                <a:spcPts val="600"/>
              </a:spcBef>
            </a:pPr>
            <a:endParaRPr lang="ru-RU" sz="18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just">
              <a:lnSpc>
                <a:spcPct val="150000"/>
              </a:lnSpc>
              <a:spcBef>
                <a:spcPts val="600"/>
              </a:spcBef>
            </a:pP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9115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/>
              <a:t>Причины аномалий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31</a:t>
            </a:fld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60FE818-3253-5049-B303-36B4E8BE1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632670"/>
              </p:ext>
            </p:extLst>
          </p:nvPr>
        </p:nvGraphicFramePr>
        <p:xfrm>
          <a:off x="628650" y="815122"/>
          <a:ext cx="8307977" cy="52277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2767">
                  <a:extLst>
                    <a:ext uri="{9D8B030D-6E8A-4147-A177-3AD203B41FA5}">
                      <a16:colId xmlns:a16="http://schemas.microsoft.com/office/drawing/2014/main" val="419884379"/>
                    </a:ext>
                  </a:extLst>
                </a:gridCol>
                <a:gridCol w="7395210">
                  <a:extLst>
                    <a:ext uri="{9D8B030D-6E8A-4147-A177-3AD203B41FA5}">
                      <a16:colId xmlns:a16="http://schemas.microsoft.com/office/drawing/2014/main" val="680146883"/>
                    </a:ext>
                  </a:extLst>
                </a:gridCol>
              </a:tblGrid>
              <a:tr h="2921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Город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Причина </a:t>
                      </a:r>
                      <a:r>
                        <a:rPr lang="ru-RU" sz="1200" dirty="0" err="1">
                          <a:effectLst/>
                        </a:rPr>
                        <a:t>аномальности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3099718561"/>
                  </a:ext>
                </a:extLst>
              </a:tr>
              <a:tr h="2800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Alexandria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Аномально низкое качество медицины. Критически низкие доходы. Общий упадок качества жизни.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1044121711"/>
                  </a:ext>
                </a:extLst>
              </a:tr>
              <a:tr h="5265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Caracas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Критически низкая безопасность. Аномально низкое качество медицины. Критически низкие доходы. Общий упадок качества жизни.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3281818510"/>
                  </a:ext>
                </a:extLst>
              </a:tr>
              <a:tr h="5265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Cairo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Экологическая катастрофа. Аномально низкое качество медицины. Критически низкие доходы. Общий упадок качества жизни.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2183023035"/>
                  </a:ext>
                </a:extLst>
              </a:tr>
              <a:tr h="35086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Taipei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Экстремальная недоступность жилья. Аномально высокое качество медицины.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686377724"/>
                  </a:ext>
                </a:extLst>
              </a:tr>
              <a:tr h="5265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 err="1">
                          <a:effectLst/>
                        </a:rPr>
                        <a:t>Kathmandu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Экстремальная недоступность жилья. Экологическая катастрофа. Критически низкие доходы. Общий упадок качества жизни.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2443011747"/>
                  </a:ext>
                </a:extLst>
              </a:tr>
              <a:tr h="2946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Manila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Экстремальная недоступность жилья. Экологическая катастрофа. Общий упадок качества жизни.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1344607682"/>
                  </a:ext>
                </a:extLst>
              </a:tr>
              <a:tr h="5265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Colombo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Экстремальная недоступность жилья. Экстремальный трафик. Критически низкие доходы. Общий упадок качества жизни.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1426494258"/>
                  </a:ext>
                </a:extLst>
              </a:tr>
              <a:tr h="5265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Tehran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Экстремальная недоступность жилья. Экстремальный трафик. Критически низкие доходы. Общий упадок качества жизни.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1803418750"/>
                  </a:ext>
                </a:extLst>
              </a:tr>
              <a:tr h="6025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Lagos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Экстремальная недоступность жилья. Экстремальный трафик. Экологическая катастрофа. Аномально низкое качество медицины. Критически низкие доходы. Общий упадок качества жизни.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2978428789"/>
                  </a:ext>
                </a:extLst>
              </a:tr>
              <a:tr h="5265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Dhaka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Экстремальный трафик. Экологическая катастрофа. Аномально низкое качество медицины. Общий упадок качества жизни.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3961814826"/>
                  </a:ext>
                </a:extLst>
              </a:tr>
              <a:tr h="2484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Sharjah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Экстремальный трафик. Экстремальные климатические условия.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9042" marR="59042" marT="0" marB="0"/>
                </a:tc>
                <a:extLst>
                  <a:ext uri="{0D108BD9-81ED-4DB2-BD59-A6C34878D82A}">
                    <a16:rowId xmlns:a16="http://schemas.microsoft.com/office/drawing/2014/main" val="2882295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637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>
                <a:effectLst/>
                <a:ea typeface="Times New Roman" panose="02020603050405020304" pitchFamily="18" charset="0"/>
              </a:rPr>
              <a:t>Визуализация аномалий</a:t>
            </a:r>
            <a:endParaRPr lang="ru-RU" sz="88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32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1B2F08-D7B0-2B40-ABB4-ADBD505FD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29" y="975579"/>
            <a:ext cx="7153605" cy="533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86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/>
              <a:t>Практическая польза анализа аномалий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u-RU" b="1" dirty="0" err="1">
                <a:effectLst/>
                <a:ea typeface="Times New Roman" panose="02020603050405020304" pitchFamily="18" charset="0"/>
              </a:rPr>
              <a:t>Релокация</a:t>
            </a:r>
            <a:r>
              <a:rPr lang="ru-RU" b="1" dirty="0">
                <a:effectLst/>
                <a:ea typeface="Times New Roman" panose="02020603050405020304" pitchFamily="18" charset="0"/>
              </a:rPr>
              <a:t> сотрудников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При отправке сотрудников в города с экстремальной опасностью необходимо назначить обязательные протоколы безопасности и страхования.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Города с меткой экстремальный трафиком и экологической катастрофой требуют надбавки за вред здоровью.</a:t>
            </a:r>
          </a:p>
          <a:p>
            <a:pPr lvl="0">
              <a:lnSpc>
                <a:spcPct val="150000"/>
              </a:lnSpc>
            </a:pPr>
            <a:r>
              <a:rPr lang="ru-RU" b="1" dirty="0">
                <a:effectLst/>
                <a:ea typeface="Times New Roman" panose="02020603050405020304" pitchFamily="18" charset="0"/>
              </a:rPr>
              <a:t>Инвестиции</a:t>
            </a: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Входить в рынок недвижимости рискованно в городах, где спрос держится не на покупательной способности, а на спекуляциях или дефиците.</a:t>
            </a: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Города с большими пробками и плохой экологией не подходят для штаб-квартир. Сотрудники будут стоять в пробках, а переманить топ-специалистов из-за рубежа почти невозможно.</a:t>
            </a:r>
          </a:p>
        </p:txBody>
      </p:sp>
    </p:spTree>
    <p:extLst>
      <p:ext uri="{BB962C8B-B14F-4D97-AF65-F5344CB8AC3E}">
        <p14:creationId xmlns:p14="http://schemas.microsoft.com/office/powerpoint/2010/main" val="305331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08DCF-4F74-B445-B858-0BF8E78C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kern="0" dirty="0"/>
              <a:t>Практическая польза анализа аномалий</a:t>
            </a:r>
            <a:endParaRPr lang="ru-RU" sz="6600" kern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9AC425-D16F-5745-A5C9-36BE2A616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A94D1-1EE5-D24C-ACA8-F6FF71C01706}"/>
              </a:ext>
            </a:extLst>
          </p:cNvPr>
          <p:cNvSpPr txBox="1"/>
          <p:nvPr/>
        </p:nvSpPr>
        <p:spPr>
          <a:xfrm>
            <a:off x="628650" y="723107"/>
            <a:ext cx="7886700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600" b="1" dirty="0">
                <a:effectLst/>
                <a:ea typeface="Times New Roman" panose="02020603050405020304" pitchFamily="18" charset="0"/>
              </a:rPr>
              <a:t>Маркетинг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 городах с критически низкими доходами при высокой стоимости жизни стандартные товары массового потребления могут оказаться предметом роскоши. Здесь нужны специальные бюджетные линейки продуктов.</a:t>
            </a:r>
          </a:p>
          <a:p>
            <a:pPr lvl="0" algn="just">
              <a:lnSpc>
                <a:spcPct val="150000"/>
              </a:lnSpc>
            </a:pPr>
            <a:r>
              <a:rPr lang="ru-RU" sz="1600" b="1" dirty="0" err="1">
                <a:effectLst/>
                <a:ea typeface="Times New Roman" panose="02020603050405020304" pitchFamily="18" charset="0"/>
              </a:rPr>
              <a:t>Урбанистика</a:t>
            </a:r>
            <a:r>
              <a:rPr lang="ru-RU" sz="1600" b="1" dirty="0">
                <a:effectLst/>
                <a:ea typeface="Times New Roman" panose="02020603050405020304" pitchFamily="18" charset="0"/>
              </a:rPr>
              <a:t> и государственное управление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Города с общим упадком качества жизни находятся на грани гуманитарной катастрофы и требуют приоритетного финансирования.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 городах с аномальным трафиком и загрязнением, но без критического провала в доходах, экономический рост опережает развитие инфраструктуры. Власти должны срочно инвестировать в метро и очистные сооружения, иначе город станет непригодным для жизни.</a:t>
            </a:r>
          </a:p>
          <a:p>
            <a:pPr lvl="0" algn="just">
              <a:lnSpc>
                <a:spcPct val="150000"/>
              </a:lnSpc>
            </a:pPr>
            <a:r>
              <a:rPr lang="ru-RU" sz="1600" b="1" dirty="0" err="1">
                <a:effectLst/>
                <a:ea typeface="Times New Roman" panose="02020603050405020304" pitchFamily="18" charset="0"/>
              </a:rPr>
              <a:t>Data</a:t>
            </a:r>
            <a:r>
              <a:rPr lang="ru-RU" sz="1600" b="1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600" b="1" dirty="0" err="1">
                <a:effectLst/>
                <a:ea typeface="Times New Roman" panose="02020603050405020304" pitchFamily="18" charset="0"/>
              </a:rPr>
              <a:t>Science</a:t>
            </a:r>
            <a:r>
              <a:rPr lang="ru-RU" sz="1600" b="1" dirty="0">
                <a:effectLst/>
                <a:ea typeface="Times New Roman" panose="02020603050405020304" pitchFamily="18" charset="0"/>
              </a:rPr>
              <a:t> (Качество моделей)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Исключение аномалий может повысить точность прогноза для остальных 95%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736043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5599</TotalTime>
  <Words>2050</Words>
  <Application>Microsoft Macintosh PowerPoint</Application>
  <PresentationFormat>Экран (4:3)</PresentationFormat>
  <Paragraphs>312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Cambria Math</vt:lpstr>
      <vt:lpstr>Courier New</vt:lpstr>
      <vt:lpstr>Symbol</vt:lpstr>
      <vt:lpstr>Times New Roman</vt:lpstr>
      <vt:lpstr>Тема Office</vt:lpstr>
      <vt:lpstr>Кластеризация и поиск аномалий в показателях качества жизни городов мира</vt:lpstr>
      <vt:lpstr>Цель и задачи</vt:lpstr>
      <vt:lpstr>Описание данных</vt:lpstr>
      <vt:lpstr>Признаки</vt:lpstr>
      <vt:lpstr>Матрица диаграмм рассеяния исходных признаков</vt:lpstr>
      <vt:lpstr>Заполнение пропусков и масштабирование</vt:lpstr>
      <vt:lpstr>Матрица корреляций (Спирмена) </vt:lpstr>
      <vt:lpstr>Постановка задачи</vt:lpstr>
      <vt:lpstr>Метод локтя для выбора числа главных компонент </vt:lpstr>
      <vt:lpstr>Корреляция исходных признаков с главными компонентами</vt:lpstr>
      <vt:lpstr>Интерпретация главных компонент</vt:lpstr>
      <vt:lpstr>Интерпретация главных компонент</vt:lpstr>
      <vt:lpstr>Интерпретация главных компонент</vt:lpstr>
      <vt:lpstr>Интерпретация главных компонент</vt:lpstr>
      <vt:lpstr>Оптимальное число кластеров для K-Means</vt:lpstr>
      <vt:lpstr>Оптимальное число кластеров для Agglomerative Clustering </vt:lpstr>
      <vt:lpstr>Оптимальное число кластеров для Agglomerative Clustering </vt:lpstr>
      <vt:lpstr>Модели кластеризации</vt:lpstr>
      <vt:lpstr>Сравнительный анализ моделей кластеризации</vt:lpstr>
      <vt:lpstr>Сравнительный анализ моделей кластеризации</vt:lpstr>
      <vt:lpstr>Кластеризация K-Means </vt:lpstr>
      <vt:lpstr>Тепловая карта медианных показателей по кластерам </vt:lpstr>
      <vt:lpstr>Интерпретация полученных кластеров </vt:lpstr>
      <vt:lpstr>Интерпретация полученных кластеров </vt:lpstr>
      <vt:lpstr>Интерпретация полученных кластеров </vt:lpstr>
      <vt:lpstr>Интерпретация полученных кластеров </vt:lpstr>
      <vt:lpstr>Интерпретация полученных кластеров </vt:lpstr>
      <vt:lpstr>Интерпретация полученных кластеров </vt:lpstr>
      <vt:lpstr>Практическая польза кластеризации</vt:lpstr>
      <vt:lpstr>Анализ аномалий</vt:lpstr>
      <vt:lpstr>Причины аномалий</vt:lpstr>
      <vt:lpstr>Визуализация аномалий</vt:lpstr>
      <vt:lpstr>Практическая польза анализа аномалий</vt:lpstr>
      <vt:lpstr>Практическая польза анализа аномалий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V. R.</dc:creator>
  <cp:lastModifiedBy>Microsoft Office User</cp:lastModifiedBy>
  <cp:revision>147</cp:revision>
  <dcterms:created xsi:type="dcterms:W3CDTF">2017-09-30T21:27:42Z</dcterms:created>
  <dcterms:modified xsi:type="dcterms:W3CDTF">2025-12-16T20:10:58Z</dcterms:modified>
</cp:coreProperties>
</file>